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8" r:id="rId14"/>
    <p:sldId id="269" r:id="rId15"/>
    <p:sldId id="270" r:id="rId16"/>
    <p:sldId id="271" r:id="rId17"/>
  </p:sldIdLst>
  <p:sldSz cx="9144000" cy="5143500" type="screen16x9"/>
  <p:notesSz cx="6858000" cy="9144000"/>
  <p:embeddedFontLst>
    <p:embeddedFont>
      <p:font typeface="Cambria Math" panose="02040503050406030204" pitchFamily="18"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gZlhi3XXfcproETHIOLaziyXm/0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4DB1365-DCC6-40C2-8BA3-9625AF4A32AF}">
  <a:tblStyle styleId="{F4DB1365-DCC6-40C2-8BA3-9625AF4A32A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800"/>
              <a:buFont typeface="Arial"/>
              <a:buNone/>
            </a:pPr>
            <a:r>
              <a:rPr lang="en-GB" sz="1200" dirty="0">
                <a:solidFill>
                  <a:schemeClr val="dk1"/>
                </a:solidFill>
                <a:latin typeface="Cambria Math"/>
                <a:ea typeface="Cambria Math"/>
                <a:cs typeface="Cambria Math"/>
                <a:sym typeface="Cambria Math"/>
              </a:rPr>
              <a:t>Real-World Applications: </a:t>
            </a:r>
            <a:endParaRPr sz="1200" dirty="0">
              <a:solidFill>
                <a:schemeClr val="dk1"/>
              </a:solidFill>
              <a:latin typeface="Cambria Math"/>
              <a:ea typeface="Cambria Math"/>
              <a:cs typeface="Cambria Math"/>
              <a:sym typeface="Cambria Math"/>
            </a:endParaRPr>
          </a:p>
          <a:p>
            <a:pPr marL="0" lvl="0" indent="0" algn="l" rtl="0">
              <a:spcBef>
                <a:spcPts val="1200"/>
              </a:spcBef>
              <a:spcAft>
                <a:spcPts val="0"/>
              </a:spcAft>
              <a:buClr>
                <a:schemeClr val="dk1"/>
              </a:buClr>
              <a:buSzPts val="1800"/>
              <a:buFont typeface="Arial"/>
              <a:buNone/>
            </a:pPr>
            <a:r>
              <a:rPr lang="en-GB" sz="1200" dirty="0">
                <a:solidFill>
                  <a:schemeClr val="dk1"/>
                </a:solidFill>
                <a:latin typeface="Cambria Math"/>
                <a:ea typeface="Cambria Math"/>
                <a:cs typeface="Cambria Math"/>
                <a:sym typeface="Cambria Math"/>
              </a:rPr>
              <a:t>Micromobility User: User can generate two routes and choose one to their liking (from source to destination) </a:t>
            </a:r>
            <a:endParaRPr sz="1200" dirty="0">
              <a:solidFill>
                <a:schemeClr val="dk1"/>
              </a:solidFill>
              <a:latin typeface="Cambria Math"/>
              <a:ea typeface="Cambria Math"/>
              <a:cs typeface="Cambria Math"/>
              <a:sym typeface="Cambria Math"/>
            </a:endParaRPr>
          </a:p>
          <a:p>
            <a:pPr marL="0" lvl="0" indent="0" algn="l" rtl="0">
              <a:spcBef>
                <a:spcPts val="1200"/>
              </a:spcBef>
              <a:spcAft>
                <a:spcPts val="0"/>
              </a:spcAft>
              <a:buClr>
                <a:schemeClr val="dk1"/>
              </a:buClr>
              <a:buSzPts val="1800"/>
              <a:buFont typeface="Arial"/>
              <a:buNone/>
            </a:pPr>
            <a:r>
              <a:rPr lang="en-GB" sz="1200" dirty="0">
                <a:solidFill>
                  <a:schemeClr val="dk1"/>
                </a:solidFill>
                <a:latin typeface="Cambria Math"/>
                <a:ea typeface="Cambria Math"/>
                <a:cs typeface="Cambria Math"/>
                <a:sym typeface="Cambria Math"/>
              </a:rPr>
              <a:t>Government: Propose this as a sustainable solution to halt the rising accident rates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f5fa06e88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E"/>
          </a:p>
        </p:txBody>
      </p:sp>
      <p:sp>
        <p:nvSpPr>
          <p:cNvPr id="66" name="Google Shape;66;g3f5fa06e8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72" name="Google Shape;7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81" name="Google Shape;8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f5fa06e884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E"/>
          </a:p>
        </p:txBody>
      </p:sp>
      <p:sp>
        <p:nvSpPr>
          <p:cNvPr id="88" name="Google Shape;88;g3f5fa06e884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101" name="Google Shape;10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f5fa06e88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E"/>
          </a:p>
        </p:txBody>
      </p:sp>
      <p:sp>
        <p:nvSpPr>
          <p:cNvPr id="109" name="Google Shape;109;g3f5fa06e88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f5fa06e88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E"/>
          </a:p>
        </p:txBody>
      </p:sp>
      <p:sp>
        <p:nvSpPr>
          <p:cNvPr id="117" name="Google Shape;117;g3f5fa06e88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133" name="Google Shape;1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4676BFDC-1C0E-A294-5D41-F08701D25CF2}"/>
            </a:ext>
          </a:extLst>
        </p:cNvPr>
        <p:cNvGrpSpPr/>
        <p:nvPr/>
      </p:nvGrpSpPr>
      <p:grpSpPr>
        <a:xfrm>
          <a:off x="0" y="0"/>
          <a:ext cx="0" cy="0"/>
          <a:chOff x="0" y="0"/>
          <a:chExt cx="0" cy="0"/>
        </a:xfrm>
      </p:grpSpPr>
      <p:sp>
        <p:nvSpPr>
          <p:cNvPr id="139" name="Google Shape;139;g3f612275319_1_0:notes">
            <a:extLst>
              <a:ext uri="{FF2B5EF4-FFF2-40B4-BE49-F238E27FC236}">
                <a16:creationId xmlns:a16="http://schemas.microsoft.com/office/drawing/2014/main" id="{1A300936-DDCE-0315-0985-926373D84C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E"/>
          </a:p>
        </p:txBody>
      </p:sp>
      <p:sp>
        <p:nvSpPr>
          <p:cNvPr id="140" name="Google Shape;140;g3f612275319_1_0:notes">
            <a:extLst>
              <a:ext uri="{FF2B5EF4-FFF2-40B4-BE49-F238E27FC236}">
                <a16:creationId xmlns:a16="http://schemas.microsoft.com/office/drawing/2014/main" id="{7D89D0BE-5FE1-A45A-E250-A78AE2A2D0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Cambria Math"/>
              <a:buChar char="●"/>
            </a:pPr>
            <a:r>
              <a:rPr lang="en-GB" sz="1100" dirty="0">
                <a:solidFill>
                  <a:schemeClr val="dk1"/>
                </a:solidFill>
                <a:highlight>
                  <a:srgbClr val="FFFFFF"/>
                </a:highlight>
                <a:latin typeface="Cambria Math"/>
                <a:ea typeface="Cambria Math"/>
                <a:cs typeface="Cambria Math"/>
                <a:sym typeface="Cambria Math"/>
              </a:rPr>
              <a:t>The comparative charts highlight how individual algorithms behave across varied metropolitan geographies (Dublin, Cork, Galway, Limerick). While classical models show sharp variance and vulnerability to spatial bias, swarm implementations demonstrate stable risk reduction profiles.</a:t>
            </a:r>
          </a:p>
          <a:p>
            <a:pPr marL="457200" lvl="0" indent="-330200" algn="l" rtl="0">
              <a:spcBef>
                <a:spcPts val="0"/>
              </a:spcBef>
              <a:spcAft>
                <a:spcPts val="0"/>
              </a:spcAft>
              <a:buClr>
                <a:schemeClr val="dk1"/>
              </a:buClr>
              <a:buSzPts val="1600"/>
              <a:buFont typeface="Cambria Math"/>
              <a:buChar char="●"/>
            </a:pPr>
            <a:r>
              <a:rPr lang="en-GB" sz="1100" dirty="0">
                <a:solidFill>
                  <a:schemeClr val="dk1"/>
                </a:solidFill>
                <a:highlight>
                  <a:srgbClr val="FFFFFF"/>
                </a:highlight>
                <a:latin typeface="Cambria Math"/>
                <a:ea typeface="Cambria Math"/>
                <a:cs typeface="Cambria Math"/>
                <a:sym typeface="Cambria Math"/>
              </a:rPr>
              <a:t>WPO and ACO models demonstrate higher latency spikes under heavy convergence steps, whereas PSO exhibits linear scalability suitable for mobile app deployment.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31471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147" name="Google Shape;14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GB" sz="1100" dirty="0">
                <a:solidFill>
                  <a:schemeClr val="dk2"/>
                </a:solidFill>
                <a:latin typeface="Cambria Math"/>
                <a:ea typeface="Cambria Math"/>
                <a:cs typeface="Cambria Math"/>
                <a:sym typeface="Cambria Math"/>
              </a:rPr>
              <a:t>●Real-time data affected all swarm algorithms differently.</a:t>
            </a:r>
          </a:p>
          <a:p>
            <a:pPr marL="12700" lvl="0" indent="0" algn="l" rtl="0">
              <a:lnSpc>
                <a:spcPct val="115000"/>
              </a:lnSpc>
              <a:spcBef>
                <a:spcPts val="0"/>
              </a:spcBef>
              <a:spcAft>
                <a:spcPts val="0"/>
              </a:spcAft>
              <a:buClr>
                <a:schemeClr val="dk1"/>
              </a:buClr>
              <a:buSzPts val="1100"/>
              <a:buFont typeface="Arial"/>
              <a:buNone/>
            </a:pPr>
            <a:r>
              <a:rPr lang="en-GB" sz="1100" dirty="0">
                <a:solidFill>
                  <a:schemeClr val="dk2"/>
                </a:solidFill>
                <a:latin typeface="Cambria Math"/>
                <a:ea typeface="Cambria Math"/>
                <a:cs typeface="Cambria Math"/>
                <a:sym typeface="Cambria Math"/>
              </a:rPr>
              <a:t>●PSO adapted best for dynamic routing.</a:t>
            </a:r>
          </a:p>
          <a:p>
            <a:pPr marL="12700" lvl="0" indent="0" algn="l" rtl="0">
              <a:lnSpc>
                <a:spcPct val="115000"/>
              </a:lnSpc>
              <a:spcBef>
                <a:spcPts val="0"/>
              </a:spcBef>
              <a:spcAft>
                <a:spcPts val="0"/>
              </a:spcAft>
              <a:buClr>
                <a:schemeClr val="dk1"/>
              </a:buClr>
              <a:buSzPts val="1100"/>
              <a:buFont typeface="Arial"/>
              <a:buNone/>
            </a:pPr>
            <a:r>
              <a:rPr lang="en-GB" sz="1100" dirty="0">
                <a:solidFill>
                  <a:schemeClr val="dk2"/>
                </a:solidFill>
                <a:latin typeface="Cambria Math"/>
                <a:ea typeface="Cambria Math"/>
                <a:cs typeface="Cambria Math"/>
                <a:sym typeface="Cambria Math"/>
              </a:rPr>
              <a:t>●ACO and WPO improved safety but increased computation.</a:t>
            </a:r>
          </a:p>
          <a:p>
            <a:pPr marL="12700" lvl="0" indent="0" algn="l" rtl="0">
              <a:lnSpc>
                <a:spcPct val="115000"/>
              </a:lnSpc>
              <a:spcBef>
                <a:spcPts val="0"/>
              </a:spcBef>
              <a:spcAft>
                <a:spcPts val="0"/>
              </a:spcAft>
              <a:buClr>
                <a:schemeClr val="dk1"/>
              </a:buClr>
              <a:buSzPts val="1100"/>
              <a:buFont typeface="Arial"/>
              <a:buNone/>
            </a:pPr>
            <a:r>
              <a:rPr lang="en-GB" sz="1100" dirty="0">
                <a:solidFill>
                  <a:schemeClr val="dk2"/>
                </a:solidFill>
                <a:latin typeface="Cambria Math"/>
                <a:ea typeface="Cambria Math"/>
                <a:cs typeface="Cambria Math"/>
                <a:sym typeface="Cambria Math"/>
              </a:rPr>
              <a:t>●A* heuristic optimised distance rather than safety.</a:t>
            </a:r>
          </a:p>
          <a:p>
            <a:pPr marL="12700" lvl="0" indent="0" algn="l" rtl="0">
              <a:lnSpc>
                <a:spcPct val="115000"/>
              </a:lnSpc>
              <a:spcBef>
                <a:spcPts val="0"/>
              </a:spcBef>
              <a:spcAft>
                <a:spcPts val="0"/>
              </a:spcAft>
              <a:buClr>
                <a:schemeClr val="dk1"/>
              </a:buClr>
              <a:buSzPts val="1100"/>
              <a:buFont typeface="Arial"/>
              <a:buNone/>
            </a:pPr>
            <a:r>
              <a:rPr lang="en-GB" sz="1100" dirty="0">
                <a:solidFill>
                  <a:schemeClr val="dk2"/>
                </a:solidFill>
                <a:latin typeface="Cambria Math"/>
                <a:ea typeface="Cambria Math"/>
                <a:cs typeface="Cambria Math"/>
                <a:sym typeface="Cambria Math"/>
              </a:rPr>
              <a:t>●Swarm algs improved safety without major increases in travel distance.</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165" name="Google Shape;16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409b05087e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E"/>
          </a:p>
        </p:txBody>
      </p:sp>
      <p:sp>
        <p:nvSpPr>
          <p:cNvPr id="172" name="Google Shape;172;g409b05087e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E"/>
          </a:p>
        </p:txBody>
      </p:sp>
      <p:sp>
        <p:nvSpPr>
          <p:cNvPr id="178" name="Google Shape;17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8.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0" y="438325"/>
            <a:ext cx="8520600" cy="1836300"/>
          </a:xfrm>
          <a:prstGeom prst="rect">
            <a:avLst/>
          </a:prstGeom>
          <a:noFill/>
          <a:ln>
            <a:noFill/>
          </a:ln>
        </p:spPr>
        <p:txBody>
          <a:bodyPr spcFirstLastPara="1" wrap="square" lIns="91425" tIns="91425" rIns="91425" bIns="91425" anchor="b" anchorCtr="0">
            <a:noAutofit/>
          </a:bodyPr>
          <a:lstStyle/>
          <a:p>
            <a:pPr marL="457200" lvl="0" indent="457200" algn="ctr" rtl="0">
              <a:lnSpc>
                <a:spcPct val="115000"/>
              </a:lnSpc>
              <a:spcBef>
                <a:spcPts val="0"/>
              </a:spcBef>
              <a:spcAft>
                <a:spcPts val="0"/>
              </a:spcAft>
              <a:buClr>
                <a:schemeClr val="dk1"/>
              </a:buClr>
              <a:buSzPts val="1100"/>
              <a:buFont typeface="Arial"/>
              <a:buNone/>
            </a:pPr>
            <a:r>
              <a:rPr lang="en-GB" sz="4000" dirty="0">
                <a:solidFill>
                  <a:srgbClr val="0000FF"/>
                </a:solidFill>
                <a:latin typeface="Cambria Math"/>
                <a:ea typeface="Cambria Math"/>
                <a:cs typeface="Cambria Math"/>
                <a:sym typeface="Cambria Math"/>
              </a:rPr>
              <a:t>Swarm‑Based Meta‑Heuristics for Multi‑Objective Route Optimisation in Micromobility Systems</a:t>
            </a:r>
            <a:endParaRPr sz="4000" dirty="0">
              <a:solidFill>
                <a:srgbClr val="0000FF"/>
              </a:solidFill>
              <a:latin typeface="Cambria Math"/>
              <a:ea typeface="Cambria Math"/>
              <a:cs typeface="Cambria Math"/>
              <a:sym typeface="Cambria Math"/>
            </a:endParaRPr>
          </a:p>
        </p:txBody>
      </p:sp>
      <p:sp>
        <p:nvSpPr>
          <p:cNvPr id="55" name="Google Shape;55;p1"/>
          <p:cNvSpPr txBox="1">
            <a:spLocks noGrp="1"/>
          </p:cNvSpPr>
          <p:nvPr>
            <p:ph type="subTitle" idx="1"/>
          </p:nvPr>
        </p:nvSpPr>
        <p:spPr>
          <a:xfrm>
            <a:off x="311700" y="2274625"/>
            <a:ext cx="8520600" cy="1451100"/>
          </a:xfrm>
          <a:prstGeom prst="rect">
            <a:avLst/>
          </a:prstGeom>
          <a:noFill/>
          <a:ln>
            <a:noFill/>
          </a:ln>
        </p:spPr>
        <p:txBody>
          <a:bodyPr spcFirstLastPara="1" wrap="square" lIns="91425" tIns="91425" rIns="91425" bIns="91425" anchor="t" anchorCtr="0">
            <a:normAutofit lnSpcReduction="10000"/>
          </a:bodyPr>
          <a:lstStyle/>
          <a:p>
            <a:pPr marL="0" lvl="0" indent="0" algn="ctr" rtl="0">
              <a:lnSpc>
                <a:spcPct val="150000"/>
              </a:lnSpc>
              <a:spcBef>
                <a:spcPts val="1000"/>
              </a:spcBef>
              <a:spcAft>
                <a:spcPts val="0"/>
              </a:spcAft>
              <a:buSzPts val="2800"/>
              <a:buNone/>
            </a:pPr>
            <a:r>
              <a:rPr lang="en-GB" sz="3050" dirty="0">
                <a:solidFill>
                  <a:schemeClr val="dk1"/>
                </a:solidFill>
                <a:latin typeface="Cambria Math"/>
                <a:ea typeface="Cambria Math"/>
                <a:cs typeface="Cambria Math"/>
                <a:sym typeface="Cambria Math"/>
              </a:rPr>
              <a:t>By Ben Crane and Hemandh Babu Babu</a:t>
            </a:r>
            <a:endParaRPr sz="3050" dirty="0">
              <a:solidFill>
                <a:schemeClr val="dk1"/>
              </a:solidFill>
              <a:latin typeface="Cambria Math"/>
              <a:ea typeface="Cambria Math"/>
              <a:cs typeface="Cambria Math"/>
              <a:sym typeface="Cambria Math"/>
            </a:endParaRPr>
          </a:p>
          <a:p>
            <a:pPr marL="0" lvl="0" indent="0" algn="ctr" rtl="0">
              <a:lnSpc>
                <a:spcPct val="150000"/>
              </a:lnSpc>
              <a:spcBef>
                <a:spcPts val="0"/>
              </a:spcBef>
              <a:spcAft>
                <a:spcPts val="0"/>
              </a:spcAft>
              <a:buSzPts val="2800"/>
              <a:buNone/>
            </a:pPr>
            <a:r>
              <a:rPr lang="en-GB" sz="2000" dirty="0">
                <a:solidFill>
                  <a:schemeClr val="dk1"/>
                </a:solidFill>
                <a:latin typeface="Cambria Math"/>
                <a:ea typeface="Cambria Math"/>
                <a:cs typeface="Cambria Math"/>
                <a:sym typeface="Cambria Math"/>
              </a:rPr>
              <a:t>Supervised by Prof Suzanne Little </a:t>
            </a:r>
            <a:endParaRPr sz="2000" dirty="0">
              <a:solidFill>
                <a:schemeClr val="dk1"/>
              </a:solidFill>
              <a:latin typeface="Cambria Math"/>
              <a:ea typeface="Cambria Math"/>
              <a:cs typeface="Cambria Math"/>
              <a:sym typeface="Cambria Math"/>
            </a:endParaRPr>
          </a:p>
        </p:txBody>
      </p:sp>
      <p:pic>
        <p:nvPicPr>
          <p:cNvPr id="56" name="Google Shape;56;p1"/>
          <p:cNvPicPr preferRelativeResize="0"/>
          <p:nvPr/>
        </p:nvPicPr>
        <p:blipFill rotWithShape="1">
          <a:blip r:embed="rId4">
            <a:alphaModFix/>
          </a:blip>
          <a:srcRect/>
          <a:stretch/>
        </p:blipFill>
        <p:spPr>
          <a:xfrm>
            <a:off x="2104925" y="3546674"/>
            <a:ext cx="4658452" cy="1596825"/>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0" y="217200"/>
            <a:ext cx="914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sz="2820" dirty="0">
                <a:solidFill>
                  <a:srgbClr val="0000FF"/>
                </a:solidFill>
                <a:latin typeface="Cambria Math"/>
                <a:ea typeface="Cambria Math"/>
                <a:cs typeface="Cambria Math"/>
                <a:sym typeface="Cambria Math"/>
              </a:rPr>
              <a:t>Introduction and Motivation</a:t>
            </a:r>
            <a:r>
              <a:rPr lang="en-GB" sz="2820" dirty="0">
                <a:latin typeface="Cambria Math"/>
                <a:ea typeface="Cambria Math"/>
                <a:cs typeface="Cambria Math"/>
                <a:sym typeface="Cambria Math"/>
              </a:rPr>
              <a:t> </a:t>
            </a:r>
            <a:endParaRPr sz="2820" dirty="0">
              <a:latin typeface="Cambria Math"/>
              <a:ea typeface="Cambria Math"/>
              <a:cs typeface="Cambria Math"/>
              <a:sym typeface="Cambria Math"/>
            </a:endParaRPr>
          </a:p>
        </p:txBody>
      </p:sp>
      <p:sp>
        <p:nvSpPr>
          <p:cNvPr id="62" name="Google Shape;62;p2"/>
          <p:cNvSpPr txBox="1">
            <a:spLocks noGrp="1"/>
          </p:cNvSpPr>
          <p:nvPr>
            <p:ph type="body" idx="1"/>
          </p:nvPr>
        </p:nvSpPr>
        <p:spPr>
          <a:xfrm>
            <a:off x="-39500" y="704875"/>
            <a:ext cx="9144000" cy="43833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SzPts val="1800"/>
              <a:buNone/>
            </a:pPr>
            <a:r>
              <a:rPr lang="en-GB" dirty="0">
                <a:solidFill>
                  <a:schemeClr val="dk1"/>
                </a:solidFill>
                <a:latin typeface="Cambria Math"/>
                <a:ea typeface="Cambria Math"/>
                <a:cs typeface="Cambria Math"/>
                <a:sym typeface="Cambria Math"/>
              </a:rPr>
              <a:t>Create a route algorithm to deliver shortest &amp; safest route between two points </a:t>
            </a:r>
            <a:endParaRPr dirty="0">
              <a:solidFill>
                <a:schemeClr val="dk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i="1" u="sng" dirty="0">
                <a:solidFill>
                  <a:schemeClr val="dk1"/>
                </a:solidFill>
                <a:latin typeface="Cambria Math"/>
                <a:ea typeface="Cambria Math"/>
                <a:cs typeface="Cambria Math"/>
                <a:sym typeface="Cambria Math"/>
              </a:rPr>
              <a:t>Problems</a:t>
            </a:r>
            <a:r>
              <a:rPr lang="en-GB" dirty="0">
                <a:solidFill>
                  <a:schemeClr val="dk1"/>
                </a:solidFill>
                <a:latin typeface="Cambria Math"/>
                <a:ea typeface="Cambria Math"/>
                <a:cs typeface="Cambria Math"/>
                <a:sym typeface="Cambria Math"/>
              </a:rPr>
              <a:t>: </a:t>
            </a:r>
            <a:endParaRPr dirty="0">
              <a:solidFill>
                <a:schemeClr val="dk1"/>
              </a:solidFill>
              <a:latin typeface="Cambria Math"/>
              <a:ea typeface="Cambria Math"/>
              <a:cs typeface="Cambria Math"/>
              <a:sym typeface="Cambria Math"/>
            </a:endParaRPr>
          </a:p>
          <a:p>
            <a:pPr marL="457200" lvl="0" indent="-342900" algn="l" rtl="0">
              <a:lnSpc>
                <a:spcPct val="100000"/>
              </a:lnSpc>
              <a:spcBef>
                <a:spcPts val="1200"/>
              </a:spcBef>
              <a:spcAft>
                <a:spcPts val="0"/>
              </a:spcAft>
              <a:buClr>
                <a:schemeClr val="dk1"/>
              </a:buClr>
              <a:buSzPts val="1800"/>
              <a:buFont typeface="Cambria Math"/>
              <a:buAutoNum type="arabicPeriod"/>
            </a:pPr>
            <a:r>
              <a:rPr lang="en-GB" dirty="0">
                <a:solidFill>
                  <a:schemeClr val="dk1"/>
                </a:solidFill>
                <a:latin typeface="Cambria Math"/>
                <a:ea typeface="Cambria Math"/>
                <a:cs typeface="Cambria Math"/>
                <a:sym typeface="Cambria Math"/>
              </a:rPr>
              <a:t>Micromobility system usage is increasing [1] but safety has failed to keep up [2]</a:t>
            </a:r>
            <a:endParaRPr dirty="0">
              <a:solidFill>
                <a:schemeClr val="dk1"/>
              </a:solidFill>
              <a:latin typeface="Cambria Math"/>
              <a:ea typeface="Cambria Math"/>
              <a:cs typeface="Cambria Math"/>
              <a:sym typeface="Cambria Math"/>
            </a:endParaRPr>
          </a:p>
          <a:p>
            <a:pPr marL="457200" lvl="0" indent="-342900" algn="l" rtl="0">
              <a:lnSpc>
                <a:spcPct val="100000"/>
              </a:lnSpc>
              <a:spcBef>
                <a:spcPts val="0"/>
              </a:spcBef>
              <a:spcAft>
                <a:spcPts val="0"/>
              </a:spcAft>
              <a:buClr>
                <a:schemeClr val="dk1"/>
              </a:buClr>
              <a:buSzPts val="1800"/>
              <a:buFont typeface="Cambria Math"/>
              <a:buAutoNum type="arabicPeriod"/>
            </a:pPr>
            <a:r>
              <a:rPr lang="en-GB" dirty="0">
                <a:solidFill>
                  <a:schemeClr val="dk1"/>
                </a:solidFill>
                <a:latin typeface="Cambria Math"/>
                <a:ea typeface="Cambria Math"/>
                <a:cs typeface="Cambria Math"/>
                <a:sym typeface="Cambria Math"/>
              </a:rPr>
              <a:t>Factors like poor infrastructure, conflicting inter-jurisdictional regulations &amp; rider behaviour [3] play a part in the unsafe nature of micromobility systems </a:t>
            </a:r>
            <a:endParaRPr dirty="0">
              <a:solidFill>
                <a:schemeClr val="dk1"/>
              </a:solidFill>
              <a:latin typeface="Cambria Math"/>
              <a:ea typeface="Cambria Math"/>
              <a:cs typeface="Cambria Math"/>
              <a:sym typeface="Cambria Math"/>
            </a:endParaRPr>
          </a:p>
          <a:p>
            <a:pPr marL="457200" lvl="0" indent="0" algn="l" rtl="0">
              <a:lnSpc>
                <a:spcPct val="100000"/>
              </a:lnSpc>
              <a:spcBef>
                <a:spcPts val="1200"/>
              </a:spcBef>
              <a:spcAft>
                <a:spcPts val="0"/>
              </a:spcAft>
              <a:buNone/>
            </a:pPr>
            <a:endParaRPr dirty="0">
              <a:solidFill>
                <a:schemeClr val="dk1"/>
              </a:solidFill>
              <a:latin typeface="Cambria Math"/>
              <a:ea typeface="Cambria Math"/>
              <a:cs typeface="Cambria Math"/>
              <a:sym typeface="Cambria Math"/>
            </a:endParaRPr>
          </a:p>
          <a:p>
            <a:pPr marL="457200" lvl="0" indent="0" algn="l" rtl="0">
              <a:lnSpc>
                <a:spcPct val="100000"/>
              </a:lnSpc>
              <a:spcBef>
                <a:spcPts val="1200"/>
              </a:spcBef>
              <a:spcAft>
                <a:spcPts val="0"/>
              </a:spcAft>
              <a:buNone/>
            </a:pPr>
            <a:endParaRPr dirty="0">
              <a:solidFill>
                <a:schemeClr val="dk1"/>
              </a:solidFill>
              <a:latin typeface="Cambria Math"/>
              <a:ea typeface="Cambria Math"/>
              <a:cs typeface="Cambria Math"/>
              <a:sym typeface="Cambria Math"/>
            </a:endParaRPr>
          </a:p>
          <a:p>
            <a:pPr marL="457200" lvl="0" indent="0" algn="l" rtl="0">
              <a:lnSpc>
                <a:spcPct val="100000"/>
              </a:lnSpc>
              <a:spcBef>
                <a:spcPts val="1200"/>
              </a:spcBef>
              <a:spcAft>
                <a:spcPts val="0"/>
              </a:spcAft>
              <a:buNone/>
            </a:pPr>
            <a:endParaRPr dirty="0">
              <a:solidFill>
                <a:schemeClr val="dk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i="1" u="sng" dirty="0">
                <a:solidFill>
                  <a:schemeClr val="dk1"/>
                </a:solidFill>
                <a:latin typeface="Cambria Math"/>
                <a:ea typeface="Cambria Math"/>
                <a:cs typeface="Cambria Math"/>
                <a:sym typeface="Cambria Math"/>
              </a:rPr>
              <a:t>Approach</a:t>
            </a:r>
            <a:r>
              <a:rPr lang="en-GB" dirty="0">
                <a:solidFill>
                  <a:schemeClr val="dk1"/>
                </a:solidFill>
                <a:latin typeface="Cambria Math"/>
                <a:ea typeface="Cambria Math"/>
                <a:cs typeface="Cambria Math"/>
                <a:sym typeface="Cambria Math"/>
              </a:rPr>
              <a:t>: </a:t>
            </a:r>
            <a:endParaRPr dirty="0">
              <a:solidFill>
                <a:schemeClr val="dk1"/>
              </a:solidFill>
              <a:latin typeface="Cambria Math"/>
              <a:ea typeface="Cambria Math"/>
              <a:cs typeface="Cambria Math"/>
              <a:sym typeface="Cambria Math"/>
            </a:endParaRPr>
          </a:p>
          <a:p>
            <a:pPr marL="457200" lvl="0" indent="-342900" algn="l" rtl="0">
              <a:lnSpc>
                <a:spcPct val="100000"/>
              </a:lnSpc>
              <a:spcBef>
                <a:spcPts val="1200"/>
              </a:spcBef>
              <a:spcAft>
                <a:spcPts val="0"/>
              </a:spcAft>
              <a:buClr>
                <a:schemeClr val="dk1"/>
              </a:buClr>
              <a:buSzPts val="1800"/>
              <a:buFont typeface="Cambria Math"/>
              <a:buAutoNum type="arabicPeriod"/>
            </a:pPr>
            <a:r>
              <a:rPr lang="en-GB" dirty="0">
                <a:solidFill>
                  <a:schemeClr val="dk1"/>
                </a:solidFill>
                <a:latin typeface="Cambria Math"/>
                <a:ea typeface="Cambria Math"/>
                <a:cs typeface="Cambria Math"/>
                <a:sym typeface="Cambria Math"/>
              </a:rPr>
              <a:t>Swarm‑based routing using Particle Swarm, Ant Colony &amp; Wolf Pack Optimisation </a:t>
            </a:r>
            <a:endParaRPr dirty="0">
              <a:solidFill>
                <a:schemeClr val="dk1"/>
              </a:solidFill>
              <a:latin typeface="Cambria Math"/>
              <a:ea typeface="Cambria Math"/>
              <a:cs typeface="Cambria Math"/>
              <a:sym typeface="Cambria Math"/>
            </a:endParaRPr>
          </a:p>
          <a:p>
            <a:pPr marL="457200" lvl="0" indent="-342900" algn="l" rtl="0">
              <a:lnSpc>
                <a:spcPct val="100000"/>
              </a:lnSpc>
              <a:spcBef>
                <a:spcPts val="0"/>
              </a:spcBef>
              <a:spcAft>
                <a:spcPts val="0"/>
              </a:spcAft>
              <a:buClr>
                <a:schemeClr val="dk1"/>
              </a:buClr>
              <a:buSzPts val="1800"/>
              <a:buFont typeface="Cambria Math"/>
              <a:buAutoNum type="arabicPeriod"/>
            </a:pPr>
            <a:r>
              <a:rPr lang="en-GB" dirty="0">
                <a:solidFill>
                  <a:schemeClr val="dk1"/>
                </a:solidFill>
                <a:latin typeface="Cambria Math"/>
                <a:ea typeface="Cambria Math"/>
                <a:cs typeface="Cambria Math"/>
                <a:sym typeface="Cambria Math"/>
              </a:rPr>
              <a:t>Optimises Metrics e.g. route distance, safety, risk reduction &amp; computational efficiency. </a:t>
            </a:r>
            <a:endParaRPr dirty="0">
              <a:solidFill>
                <a:schemeClr val="dk1"/>
              </a:solidFill>
              <a:latin typeface="Cambria Math"/>
              <a:ea typeface="Cambria Math"/>
              <a:cs typeface="Cambria Math"/>
              <a:sym typeface="Cambria Math"/>
            </a:endParaRPr>
          </a:p>
          <a:p>
            <a:pPr marL="457200" lvl="0" indent="-342900" algn="l" rtl="0">
              <a:lnSpc>
                <a:spcPct val="100000"/>
              </a:lnSpc>
              <a:spcBef>
                <a:spcPts val="0"/>
              </a:spcBef>
              <a:spcAft>
                <a:spcPts val="0"/>
              </a:spcAft>
              <a:buClr>
                <a:schemeClr val="dk1"/>
              </a:buClr>
              <a:buSzPts val="1800"/>
              <a:buFont typeface="Cambria Math"/>
              <a:buAutoNum type="arabicPeriod"/>
            </a:pPr>
            <a:r>
              <a:rPr lang="en-GB" dirty="0">
                <a:solidFill>
                  <a:schemeClr val="dk1"/>
                </a:solidFill>
                <a:latin typeface="Cambria Math"/>
                <a:ea typeface="Cambria Math"/>
                <a:cs typeface="Cambria Math"/>
                <a:sym typeface="Cambria Math"/>
              </a:rPr>
              <a:t>Performance benchmarked against Dijkstra &amp; A* pathfinding methods. </a:t>
            </a:r>
            <a:endParaRPr dirty="0">
              <a:solidFill>
                <a:schemeClr val="dk1"/>
              </a:solidFill>
              <a:latin typeface="Cambria Math"/>
              <a:ea typeface="Cambria Math"/>
              <a:cs typeface="Cambria Math"/>
              <a:sym typeface="Cambria Math"/>
            </a:endParaRPr>
          </a:p>
          <a:p>
            <a:pPr marL="0" lvl="0" indent="0" algn="l" rtl="0">
              <a:lnSpc>
                <a:spcPct val="100000"/>
              </a:lnSpc>
              <a:spcBef>
                <a:spcPts val="1200"/>
              </a:spcBef>
              <a:spcAft>
                <a:spcPts val="1200"/>
              </a:spcAft>
              <a:buSzPts val="1800"/>
              <a:buNone/>
            </a:pPr>
            <a:endParaRPr sz="1200" dirty="0">
              <a:solidFill>
                <a:schemeClr val="dk1"/>
              </a:solidFill>
              <a:latin typeface="Cambria Math"/>
              <a:ea typeface="Cambria Math"/>
              <a:cs typeface="Cambria Math"/>
              <a:sym typeface="Cambria Math"/>
            </a:endParaRPr>
          </a:p>
        </p:txBody>
      </p:sp>
      <p:pic>
        <p:nvPicPr>
          <p:cNvPr id="63" name="Google Shape;63;p2"/>
          <p:cNvPicPr preferRelativeResize="0"/>
          <p:nvPr/>
        </p:nvPicPr>
        <p:blipFill rotWithShape="1">
          <a:blip r:embed="rId4">
            <a:alphaModFix/>
          </a:blip>
          <a:srcRect l="12683" r="16420"/>
          <a:stretch/>
        </p:blipFill>
        <p:spPr>
          <a:xfrm>
            <a:off x="6221592" y="2415554"/>
            <a:ext cx="1806600" cy="1550451"/>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g3f5fa06e884_0_0"/>
          <p:cNvSpPr txBox="1"/>
          <p:nvPr/>
        </p:nvSpPr>
        <p:spPr>
          <a:xfrm>
            <a:off x="-1" y="0"/>
            <a:ext cx="9144000" cy="461635"/>
          </a:xfrm>
          <a:prstGeom prst="rect">
            <a:avLst/>
          </a:prstGeom>
          <a:noFill/>
          <a:ln>
            <a:noFill/>
          </a:ln>
        </p:spPr>
        <p:txBody>
          <a:bodyPr spcFirstLastPara="1" wrap="square" lIns="91425" tIns="91425" rIns="91425" bIns="91425" anchor="t" anchorCtr="0">
            <a:spAutoFit/>
          </a:bodyPr>
          <a:lstStyle/>
          <a:p>
            <a:pPr lvl="0"/>
            <a:r>
              <a:rPr lang="en-IE" sz="1800" dirty="0">
                <a:latin typeface="Cambria Math" panose="02040503050406030204" pitchFamily="18" charset="0"/>
                <a:ea typeface="Cambria Math" panose="02040503050406030204" pitchFamily="18" charset="0"/>
              </a:rPr>
              <a:t>UCSF data shows rising eBike/eScooter injuries in the U.S. (2017–2022) [2].</a:t>
            </a:r>
            <a:endParaRPr sz="1800" dirty="0">
              <a:solidFill>
                <a:schemeClr val="dk1"/>
              </a:solidFill>
              <a:latin typeface="Cambria Math" panose="02040503050406030204" pitchFamily="18" charset="0"/>
              <a:ea typeface="Cambria Math" panose="02040503050406030204" pitchFamily="18" charset="0"/>
              <a:cs typeface="Cambria Math"/>
              <a:sym typeface="Cambria Math"/>
            </a:endParaRPr>
          </a:p>
        </p:txBody>
      </p:sp>
      <p:pic>
        <p:nvPicPr>
          <p:cNvPr id="69" name="Google Shape;69;g3f5fa06e884_0_0"/>
          <p:cNvPicPr preferRelativeResize="0"/>
          <p:nvPr/>
        </p:nvPicPr>
        <p:blipFill>
          <a:blip r:embed="rId4">
            <a:alphaModFix/>
          </a:blip>
          <a:stretch>
            <a:fillRect/>
          </a:stretch>
        </p:blipFill>
        <p:spPr>
          <a:xfrm>
            <a:off x="0" y="461635"/>
            <a:ext cx="9143999" cy="4681865"/>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
                                          </p:val>
                                        </p:tav>
                                        <p:tav tm="100000">
                                          <p:val>
                                            <p:strVal val="#ppt_x"/>
                                          </p:val>
                                        </p:tav>
                                      </p:tavLst>
                                    </p:anim>
                                    <p:anim calcmode="lin" valueType="num">
                                      <p:cBhvr>
                                        <p:cTn id="9"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9"/>
                                        </p:tgtEl>
                                        <p:attrNameLst>
                                          <p:attrName>style.visibility</p:attrName>
                                        </p:attrNameLst>
                                      </p:cBhvr>
                                      <p:to>
                                        <p:strVal val="visible"/>
                                      </p:to>
                                    </p:set>
                                    <p:anim calcmode="lin" valueType="num">
                                      <p:cBhvr additive="base">
                                        <p:cTn id="14" dur="500" fill="hold"/>
                                        <p:tgtEl>
                                          <p:spTgt spid="69"/>
                                        </p:tgtEl>
                                        <p:attrNameLst>
                                          <p:attrName>ppt_x</p:attrName>
                                        </p:attrNameLst>
                                      </p:cBhvr>
                                      <p:tavLst>
                                        <p:tav tm="0">
                                          <p:val>
                                            <p:strVal val="#ppt_x"/>
                                          </p:val>
                                        </p:tav>
                                        <p:tav tm="100000">
                                          <p:val>
                                            <p:strVal val="#ppt_x"/>
                                          </p:val>
                                        </p:tav>
                                      </p:tavLst>
                                    </p:anim>
                                    <p:anim calcmode="lin" valueType="num">
                                      <p:cBhvr additive="base">
                                        <p:cTn id="15"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3"/>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sz="2820" dirty="0">
                <a:solidFill>
                  <a:srgbClr val="0000FF"/>
                </a:solidFill>
                <a:latin typeface="Cambria Math"/>
                <a:ea typeface="Cambria Math"/>
                <a:cs typeface="Cambria Math"/>
                <a:sym typeface="Cambria Math"/>
              </a:rPr>
              <a:t>Design Parameters &amp; Research Questions </a:t>
            </a:r>
            <a:endParaRPr sz="2820" dirty="0">
              <a:solidFill>
                <a:srgbClr val="0000FF"/>
              </a:solidFill>
              <a:latin typeface="Cambria Math"/>
              <a:ea typeface="Cambria Math"/>
              <a:cs typeface="Cambria Math"/>
              <a:sym typeface="Cambria Math"/>
            </a:endParaRPr>
          </a:p>
        </p:txBody>
      </p:sp>
      <p:sp>
        <p:nvSpPr>
          <p:cNvPr id="75" name="Google Shape;75;p3"/>
          <p:cNvSpPr txBox="1">
            <a:spLocks noGrp="1"/>
          </p:cNvSpPr>
          <p:nvPr>
            <p:ph type="body" idx="1"/>
          </p:nvPr>
        </p:nvSpPr>
        <p:spPr>
          <a:xfrm>
            <a:off x="825" y="572700"/>
            <a:ext cx="9144000" cy="4572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15000"/>
              </a:lnSpc>
              <a:spcBef>
                <a:spcPts val="0"/>
              </a:spcBef>
              <a:spcAft>
                <a:spcPts val="0"/>
              </a:spcAft>
              <a:buNone/>
            </a:pPr>
            <a:endParaRPr sz="2600" dirty="0">
              <a:solidFill>
                <a:schemeClr val="dk1"/>
              </a:solidFill>
              <a:latin typeface="Cambria Math"/>
              <a:ea typeface="Cambria Math"/>
              <a:cs typeface="Cambria Math"/>
              <a:sym typeface="Cambria Math"/>
            </a:endParaRPr>
          </a:p>
          <a:p>
            <a:pPr marL="0" lvl="0" indent="0" algn="l" rtl="0">
              <a:lnSpc>
                <a:spcPct val="115000"/>
              </a:lnSpc>
              <a:spcBef>
                <a:spcPts val="0"/>
              </a:spcBef>
              <a:spcAft>
                <a:spcPts val="0"/>
              </a:spcAft>
              <a:buNone/>
            </a:pPr>
            <a:r>
              <a:rPr lang="en-GB" sz="2900" u="sng" dirty="0">
                <a:solidFill>
                  <a:schemeClr val="dk1"/>
                </a:solidFill>
                <a:latin typeface="Cambria Math"/>
                <a:ea typeface="Cambria Math"/>
                <a:cs typeface="Cambria Math"/>
                <a:sym typeface="Cambria Math"/>
              </a:rPr>
              <a:t>Design Parameters</a:t>
            </a:r>
            <a:endParaRPr sz="2900" u="sng" dirty="0">
              <a:solidFill>
                <a:schemeClr val="dk1"/>
              </a:solidFill>
              <a:latin typeface="Cambria Math"/>
              <a:ea typeface="Cambria Math"/>
              <a:cs typeface="Cambria Math"/>
              <a:sym typeface="Cambria Math"/>
            </a:endParaRPr>
          </a:p>
          <a:p>
            <a:pPr marL="457200" lvl="0" indent="-341709" algn="l" rtl="0">
              <a:spcBef>
                <a:spcPts val="0"/>
              </a:spcBef>
              <a:spcAft>
                <a:spcPts val="0"/>
              </a:spcAft>
              <a:buClr>
                <a:schemeClr val="dk1"/>
              </a:buClr>
              <a:buSzPct val="100000"/>
              <a:buFont typeface="Cambria Math"/>
              <a:buAutoNum type="arabicPeriod"/>
            </a:pPr>
            <a:r>
              <a:rPr lang="en-GB" sz="2850" i="1" dirty="0">
                <a:solidFill>
                  <a:schemeClr val="dk1"/>
                </a:solidFill>
                <a:latin typeface="Cambria Math"/>
                <a:ea typeface="Cambria Math"/>
                <a:cs typeface="Cambria Math"/>
                <a:sym typeface="Cambria Math"/>
              </a:rPr>
              <a:t>Inputs</a:t>
            </a:r>
            <a:r>
              <a:rPr lang="en-GB" sz="2850" dirty="0">
                <a:solidFill>
                  <a:schemeClr val="dk1"/>
                </a:solidFill>
                <a:latin typeface="Cambria Math"/>
                <a:ea typeface="Cambria Math"/>
                <a:cs typeface="Cambria Math"/>
                <a:sym typeface="Cambria Math"/>
              </a:rPr>
              <a:t>: Traffic accident data with standardised dates &amp; OpenStreetMap IDs (converted from coordinates)</a:t>
            </a:r>
            <a:endParaRPr sz="2850" dirty="0">
              <a:solidFill>
                <a:schemeClr val="dk1"/>
              </a:solidFill>
              <a:latin typeface="Cambria Math"/>
              <a:ea typeface="Cambria Math"/>
              <a:cs typeface="Cambria Math"/>
              <a:sym typeface="Cambria Math"/>
            </a:endParaRPr>
          </a:p>
          <a:p>
            <a:pPr marL="457200" lvl="0" indent="-341709" algn="l" rtl="0">
              <a:spcBef>
                <a:spcPts val="1000"/>
              </a:spcBef>
              <a:spcAft>
                <a:spcPts val="0"/>
              </a:spcAft>
              <a:buClr>
                <a:schemeClr val="dk1"/>
              </a:buClr>
              <a:buSzPct val="100000"/>
              <a:buFont typeface="Cambria Math"/>
              <a:buAutoNum type="arabicPeriod"/>
            </a:pPr>
            <a:r>
              <a:rPr lang="en-GB" sz="2850" i="1" dirty="0">
                <a:solidFill>
                  <a:schemeClr val="dk1"/>
                </a:solidFill>
                <a:latin typeface="Cambria Math"/>
                <a:ea typeface="Cambria Math"/>
                <a:cs typeface="Cambria Math"/>
                <a:sym typeface="Cambria Math"/>
              </a:rPr>
              <a:t>Desired Outputs</a:t>
            </a:r>
            <a:r>
              <a:rPr lang="en-GB" sz="2850" dirty="0">
                <a:solidFill>
                  <a:schemeClr val="dk1"/>
                </a:solidFill>
                <a:latin typeface="Cambria Math"/>
                <a:ea typeface="Cambria Math"/>
                <a:cs typeface="Cambria Math"/>
                <a:sym typeface="Cambria Math"/>
              </a:rPr>
              <a:t>: HTML map of the route and command line interface of the result information with the main factors measured</a:t>
            </a:r>
            <a:endParaRPr sz="2850" dirty="0">
              <a:solidFill>
                <a:schemeClr val="dk1"/>
              </a:solidFill>
              <a:latin typeface="Cambria Math"/>
              <a:ea typeface="Cambria Math"/>
              <a:cs typeface="Cambria Math"/>
              <a:sym typeface="Cambria Math"/>
            </a:endParaRPr>
          </a:p>
          <a:p>
            <a:pPr marL="0" lvl="0" indent="0" algn="l" rtl="0">
              <a:spcBef>
                <a:spcPts val="1000"/>
              </a:spcBef>
              <a:spcAft>
                <a:spcPts val="0"/>
              </a:spcAft>
              <a:buNone/>
            </a:pPr>
            <a:endParaRPr dirty="0">
              <a:solidFill>
                <a:schemeClr val="dk1"/>
              </a:solidFill>
              <a:latin typeface="Cambria Math"/>
              <a:ea typeface="Cambria Math"/>
              <a:cs typeface="Cambria Math"/>
              <a:sym typeface="Cambria Math"/>
            </a:endParaRPr>
          </a:p>
          <a:p>
            <a:pPr marL="0" lvl="0" indent="0" algn="l" rtl="0">
              <a:spcBef>
                <a:spcPts val="0"/>
              </a:spcBef>
              <a:spcAft>
                <a:spcPts val="0"/>
              </a:spcAft>
              <a:buNone/>
            </a:pPr>
            <a:endParaRPr dirty="0">
              <a:solidFill>
                <a:schemeClr val="dk1"/>
              </a:solidFill>
              <a:latin typeface="Cambria Math"/>
              <a:ea typeface="Cambria Math"/>
              <a:cs typeface="Cambria Math"/>
              <a:sym typeface="Cambria Math"/>
            </a:endParaRPr>
          </a:p>
          <a:p>
            <a:pPr marL="457200" lvl="0" indent="0" algn="l" rtl="0">
              <a:spcBef>
                <a:spcPts val="0"/>
              </a:spcBef>
              <a:spcAft>
                <a:spcPts val="0"/>
              </a:spcAft>
              <a:buNone/>
            </a:pPr>
            <a:endParaRPr dirty="0">
              <a:solidFill>
                <a:schemeClr val="dk1"/>
              </a:solidFill>
              <a:latin typeface="Cambria Math"/>
              <a:ea typeface="Cambria Math"/>
              <a:cs typeface="Cambria Math"/>
              <a:sym typeface="Cambria Math"/>
            </a:endParaRPr>
          </a:p>
          <a:p>
            <a:pPr marL="457200" lvl="0" indent="0" algn="l" rtl="0">
              <a:spcBef>
                <a:spcPts val="0"/>
              </a:spcBef>
              <a:spcAft>
                <a:spcPts val="0"/>
              </a:spcAft>
              <a:buNone/>
            </a:pPr>
            <a:endParaRPr dirty="0">
              <a:solidFill>
                <a:schemeClr val="dk1"/>
              </a:solidFill>
              <a:latin typeface="Cambria Math"/>
              <a:ea typeface="Cambria Math"/>
              <a:cs typeface="Cambria Math"/>
              <a:sym typeface="Cambria Math"/>
            </a:endParaRPr>
          </a:p>
          <a:p>
            <a:pPr marL="0" lvl="0" indent="0" algn="l" rtl="0">
              <a:lnSpc>
                <a:spcPct val="115000"/>
              </a:lnSpc>
              <a:spcBef>
                <a:spcPts val="0"/>
              </a:spcBef>
              <a:spcAft>
                <a:spcPts val="0"/>
              </a:spcAft>
              <a:buNone/>
            </a:pPr>
            <a:endParaRPr sz="2100" u="sng" dirty="0">
              <a:solidFill>
                <a:schemeClr val="dk1"/>
              </a:solidFill>
              <a:latin typeface="Cambria Math"/>
              <a:ea typeface="Cambria Math"/>
              <a:cs typeface="Cambria Math"/>
              <a:sym typeface="Cambria Math"/>
            </a:endParaRPr>
          </a:p>
          <a:p>
            <a:pPr marL="0" lvl="0" indent="0" algn="l" rtl="0">
              <a:lnSpc>
                <a:spcPct val="115000"/>
              </a:lnSpc>
              <a:spcBef>
                <a:spcPts val="0"/>
              </a:spcBef>
              <a:spcAft>
                <a:spcPts val="0"/>
              </a:spcAft>
              <a:buNone/>
            </a:pPr>
            <a:r>
              <a:rPr lang="en-GB" sz="2850" u="sng" dirty="0">
                <a:solidFill>
                  <a:schemeClr val="dk1"/>
                </a:solidFill>
                <a:latin typeface="Cambria Math"/>
                <a:ea typeface="Cambria Math"/>
                <a:cs typeface="Cambria Math"/>
                <a:sym typeface="Cambria Math"/>
              </a:rPr>
              <a:t>Research Questions</a:t>
            </a:r>
            <a:endParaRPr sz="2850" u="sng" dirty="0">
              <a:solidFill>
                <a:schemeClr val="dk1"/>
              </a:solidFill>
              <a:latin typeface="Cambria Math"/>
              <a:ea typeface="Cambria Math"/>
              <a:cs typeface="Cambria Math"/>
              <a:sym typeface="Cambria Math"/>
            </a:endParaRPr>
          </a:p>
          <a:p>
            <a:pPr marL="457200" lvl="0" indent="-329803" algn="l" rtl="0">
              <a:lnSpc>
                <a:spcPct val="115000"/>
              </a:lnSpc>
              <a:spcBef>
                <a:spcPts val="0"/>
              </a:spcBef>
              <a:spcAft>
                <a:spcPts val="0"/>
              </a:spcAft>
              <a:buClr>
                <a:schemeClr val="dk1"/>
              </a:buClr>
              <a:buSzPct val="100000"/>
              <a:buFont typeface="Cambria Math"/>
              <a:buAutoNum type="arabicPeriod"/>
            </a:pPr>
            <a:r>
              <a:rPr lang="en-GB" sz="2550" i="1" dirty="0">
                <a:solidFill>
                  <a:schemeClr val="dk1"/>
                </a:solidFill>
                <a:latin typeface="Cambria Math"/>
                <a:ea typeface="Cambria Math"/>
                <a:cs typeface="Cambria Math"/>
                <a:sym typeface="Cambria Math"/>
              </a:rPr>
              <a:t>RQ1</a:t>
            </a:r>
            <a:r>
              <a:rPr lang="en-GB" sz="2550" dirty="0">
                <a:solidFill>
                  <a:schemeClr val="dk1"/>
                </a:solidFill>
                <a:latin typeface="Cambria Math"/>
                <a:ea typeface="Cambria Math"/>
                <a:cs typeface="Cambria Math"/>
                <a:sym typeface="Cambria Math"/>
              </a:rPr>
              <a:t>: What is the impact of data availability on the performance of meta-heuristic route algorithms for micromobility safety? </a:t>
            </a:r>
            <a:endParaRPr sz="2550" dirty="0">
              <a:solidFill>
                <a:schemeClr val="dk1"/>
              </a:solidFill>
              <a:latin typeface="Cambria Math"/>
              <a:ea typeface="Cambria Math"/>
              <a:cs typeface="Cambria Math"/>
              <a:sym typeface="Cambria Math"/>
            </a:endParaRPr>
          </a:p>
          <a:p>
            <a:pPr marL="457200" lvl="0" indent="-329803" algn="l" rtl="0">
              <a:lnSpc>
                <a:spcPct val="115000"/>
              </a:lnSpc>
              <a:spcBef>
                <a:spcPts val="1000"/>
              </a:spcBef>
              <a:spcAft>
                <a:spcPts val="0"/>
              </a:spcAft>
              <a:buClr>
                <a:schemeClr val="dk1"/>
              </a:buClr>
              <a:buSzPct val="100000"/>
              <a:buFont typeface="Cambria Math"/>
              <a:buAutoNum type="arabicPeriod"/>
            </a:pPr>
            <a:r>
              <a:rPr lang="en-GB" sz="2550" i="1" dirty="0">
                <a:solidFill>
                  <a:schemeClr val="dk1"/>
                </a:solidFill>
                <a:latin typeface="Cambria Math"/>
                <a:ea typeface="Cambria Math"/>
                <a:cs typeface="Cambria Math"/>
                <a:sym typeface="Cambria Math"/>
              </a:rPr>
              <a:t>RQ2</a:t>
            </a:r>
            <a:r>
              <a:rPr lang="en-GB" sz="2550" dirty="0">
                <a:solidFill>
                  <a:schemeClr val="dk1"/>
                </a:solidFill>
                <a:latin typeface="Cambria Math"/>
                <a:ea typeface="Cambria Math"/>
                <a:cs typeface="Cambria Math"/>
                <a:sym typeface="Cambria Math"/>
              </a:rPr>
              <a:t>: To what extent can swarming algorithms reduce user risk without increasing trip distance? </a:t>
            </a:r>
            <a:endParaRPr sz="2550" dirty="0"/>
          </a:p>
          <a:p>
            <a:pPr marL="457200" lvl="0" indent="-228600" algn="l" rtl="0">
              <a:lnSpc>
                <a:spcPct val="115000"/>
              </a:lnSpc>
              <a:spcBef>
                <a:spcPts val="1000"/>
              </a:spcBef>
              <a:spcAft>
                <a:spcPts val="0"/>
              </a:spcAft>
              <a:buClr>
                <a:schemeClr val="dk1"/>
              </a:buClr>
              <a:buSzPct val="100000"/>
              <a:buFont typeface="Cambria Math"/>
              <a:buNone/>
            </a:pPr>
            <a:endParaRPr sz="1200" dirty="0">
              <a:solidFill>
                <a:schemeClr val="dk1"/>
              </a:solidFill>
              <a:latin typeface="Cambria Math"/>
              <a:ea typeface="Cambria Math"/>
              <a:cs typeface="Cambria Math"/>
              <a:sym typeface="Cambria Math"/>
            </a:endParaRPr>
          </a:p>
          <a:p>
            <a:pPr marL="457200" lvl="0" indent="-228600" algn="l" rtl="0">
              <a:lnSpc>
                <a:spcPct val="115000"/>
              </a:lnSpc>
              <a:spcBef>
                <a:spcPts val="0"/>
              </a:spcBef>
              <a:spcAft>
                <a:spcPts val="0"/>
              </a:spcAft>
              <a:buClr>
                <a:schemeClr val="dk1"/>
              </a:buClr>
              <a:buSzPct val="100000"/>
              <a:buFont typeface="Cambria Math"/>
              <a:buNone/>
            </a:pPr>
            <a:endParaRPr sz="1200" dirty="0">
              <a:solidFill>
                <a:schemeClr val="dk1"/>
              </a:solidFill>
              <a:latin typeface="Cambria Math"/>
              <a:ea typeface="Cambria Math"/>
              <a:cs typeface="Cambria Math"/>
              <a:sym typeface="Cambria Math"/>
            </a:endParaRPr>
          </a:p>
          <a:p>
            <a:pPr marL="457200" lvl="0" indent="-228600" algn="l" rtl="0">
              <a:lnSpc>
                <a:spcPct val="115000"/>
              </a:lnSpc>
              <a:spcBef>
                <a:spcPts val="0"/>
              </a:spcBef>
              <a:spcAft>
                <a:spcPts val="0"/>
              </a:spcAft>
              <a:buClr>
                <a:schemeClr val="dk1"/>
              </a:buClr>
              <a:buSzPct val="100000"/>
              <a:buFont typeface="Cambria Math"/>
              <a:buNone/>
            </a:pPr>
            <a:endParaRPr sz="1200" dirty="0">
              <a:solidFill>
                <a:schemeClr val="dk1"/>
              </a:solidFill>
              <a:latin typeface="Cambria Math"/>
              <a:ea typeface="Cambria Math"/>
              <a:cs typeface="Cambria Math"/>
              <a:sym typeface="Cambria Math"/>
            </a:endParaRPr>
          </a:p>
          <a:p>
            <a:pPr marL="457200" lvl="0" indent="-228600" algn="l" rtl="0">
              <a:lnSpc>
                <a:spcPct val="115000"/>
              </a:lnSpc>
              <a:spcBef>
                <a:spcPts val="0"/>
              </a:spcBef>
              <a:spcAft>
                <a:spcPts val="0"/>
              </a:spcAft>
              <a:buClr>
                <a:schemeClr val="dk1"/>
              </a:buClr>
              <a:buSzPct val="100000"/>
              <a:buFont typeface="Cambria Math"/>
              <a:buNone/>
            </a:pPr>
            <a:endParaRPr sz="1200" dirty="0">
              <a:solidFill>
                <a:schemeClr val="dk1"/>
              </a:solidFill>
              <a:latin typeface="Cambria Math"/>
              <a:ea typeface="Cambria Math"/>
              <a:cs typeface="Cambria Math"/>
              <a:sym typeface="Cambria Math"/>
            </a:endParaRPr>
          </a:p>
          <a:p>
            <a:pPr marL="152400" lvl="0" indent="0" algn="l" rtl="0">
              <a:lnSpc>
                <a:spcPct val="115000"/>
              </a:lnSpc>
              <a:spcBef>
                <a:spcPts val="0"/>
              </a:spcBef>
              <a:spcAft>
                <a:spcPts val="0"/>
              </a:spcAft>
              <a:buClr>
                <a:schemeClr val="dk1"/>
              </a:buClr>
              <a:buSzPct val="100000"/>
              <a:buNone/>
            </a:pPr>
            <a:endParaRPr sz="1200" dirty="0">
              <a:solidFill>
                <a:schemeClr val="dk1"/>
              </a:solidFill>
              <a:latin typeface="Cambria Math"/>
              <a:ea typeface="Cambria Math"/>
              <a:cs typeface="Cambria Math"/>
              <a:sym typeface="Cambria Math"/>
            </a:endParaRPr>
          </a:p>
        </p:txBody>
      </p:sp>
      <p:sp>
        <p:nvSpPr>
          <p:cNvPr id="76" name="Google Shape;76;p3"/>
          <p:cNvSpPr/>
          <p:nvPr/>
        </p:nvSpPr>
        <p:spPr>
          <a:xfrm>
            <a:off x="310378" y="2426816"/>
            <a:ext cx="2617169" cy="637500"/>
          </a:xfrm>
          <a:prstGeom prst="rect">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GB" sz="1600" b="0" i="0" u="none" strike="noStrike" cap="none" dirty="0">
                <a:solidFill>
                  <a:schemeClr val="accent6"/>
                </a:solidFill>
                <a:latin typeface="Cambria Math"/>
                <a:ea typeface="Cambria Math"/>
                <a:cs typeface="Cambria Math"/>
                <a:sym typeface="Cambria Math"/>
              </a:rPr>
              <a:t>Computational Efficiency </a:t>
            </a:r>
            <a:endParaRPr sz="1600" b="0" i="0" u="none" strike="noStrike" cap="none" dirty="0">
              <a:solidFill>
                <a:schemeClr val="accent6"/>
              </a:solidFill>
              <a:latin typeface="Cambria Math"/>
              <a:ea typeface="Cambria Math"/>
              <a:cs typeface="Cambria Math"/>
              <a:sym typeface="Cambria Math"/>
            </a:endParaRPr>
          </a:p>
          <a:p>
            <a:pPr marL="0" marR="0" lvl="0" indent="0" algn="ctr" rtl="0">
              <a:lnSpc>
                <a:spcPct val="100000"/>
              </a:lnSpc>
              <a:spcBef>
                <a:spcPts val="0"/>
              </a:spcBef>
              <a:spcAft>
                <a:spcPts val="0"/>
              </a:spcAft>
              <a:buNone/>
            </a:pPr>
            <a:r>
              <a:rPr lang="en-GB" sz="1600" b="0" i="0" u="none" strike="noStrike" cap="none" dirty="0">
                <a:solidFill>
                  <a:schemeClr val="accent6"/>
                </a:solidFill>
                <a:latin typeface="Cambria Math"/>
                <a:ea typeface="Cambria Math"/>
                <a:cs typeface="Cambria Math"/>
                <a:sym typeface="Cambria Math"/>
              </a:rPr>
              <a:t>(Time Duration)</a:t>
            </a:r>
            <a:endParaRPr sz="1800" dirty="0">
              <a:solidFill>
                <a:schemeClr val="accent6"/>
              </a:solidFill>
            </a:endParaRPr>
          </a:p>
        </p:txBody>
      </p:sp>
      <p:sp>
        <p:nvSpPr>
          <p:cNvPr id="77" name="Google Shape;77;p3"/>
          <p:cNvSpPr/>
          <p:nvPr/>
        </p:nvSpPr>
        <p:spPr>
          <a:xfrm>
            <a:off x="3289436" y="2426816"/>
            <a:ext cx="2566800" cy="637500"/>
          </a:xfrm>
          <a:prstGeom prst="rect">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GB" sz="1600" b="0" i="0" u="none" strike="noStrike" cap="none" dirty="0">
                <a:solidFill>
                  <a:schemeClr val="accent6"/>
                </a:solidFill>
                <a:latin typeface="Cambria Math"/>
                <a:ea typeface="Cambria Math"/>
                <a:cs typeface="Cambria Math"/>
                <a:sym typeface="Cambria Math"/>
              </a:rPr>
              <a:t>Safety Improvements (between the algorithms)</a:t>
            </a:r>
            <a:endParaRPr sz="1800" dirty="0">
              <a:solidFill>
                <a:schemeClr val="accent6"/>
              </a:solidFill>
            </a:endParaRPr>
          </a:p>
        </p:txBody>
      </p:sp>
      <p:sp>
        <p:nvSpPr>
          <p:cNvPr id="78" name="Google Shape;78;p3"/>
          <p:cNvSpPr/>
          <p:nvPr/>
        </p:nvSpPr>
        <p:spPr>
          <a:xfrm>
            <a:off x="6218125" y="2426816"/>
            <a:ext cx="2718300" cy="637500"/>
          </a:xfrm>
          <a:prstGeom prst="rect">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GB" sz="1600" b="0" i="0" u="none" strike="noStrike" cap="none" dirty="0">
                <a:solidFill>
                  <a:schemeClr val="accent6"/>
                </a:solidFill>
                <a:latin typeface="Cambria Math"/>
                <a:ea typeface="Cambria Math"/>
                <a:cs typeface="Cambria Math"/>
                <a:sym typeface="Cambria Math"/>
              </a:rPr>
              <a:t>Relative Risk Reduction (</a:t>
            </a:r>
            <a:r>
              <a:rPr lang="en-GB" sz="1600" dirty="0">
                <a:solidFill>
                  <a:schemeClr val="accent6"/>
                </a:solidFill>
                <a:latin typeface="Cambria Math"/>
                <a:ea typeface="Cambria Math"/>
                <a:cs typeface="Cambria Math"/>
                <a:sym typeface="Cambria Math"/>
              </a:rPr>
              <a:t>between algorithms</a:t>
            </a:r>
            <a:r>
              <a:rPr lang="en-GB" sz="1600" b="0" i="0" u="none" strike="noStrike" cap="none" dirty="0">
                <a:solidFill>
                  <a:schemeClr val="accent6"/>
                </a:solidFill>
                <a:latin typeface="Cambria Math"/>
                <a:ea typeface="Cambria Math"/>
                <a:cs typeface="Cambria Math"/>
                <a:sym typeface="Cambria Math"/>
              </a:rPr>
              <a:t>)</a:t>
            </a:r>
            <a:endParaRPr sz="1600" dirty="0">
              <a:solidFill>
                <a:schemeClr val="accent6"/>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6" grpId="0" animBg="1"/>
      <p:bldP spid="77" grpId="0" animBg="1"/>
      <p:bldP spid="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4"/>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sz="2811" dirty="0">
                <a:solidFill>
                  <a:srgbClr val="0000FF"/>
                </a:solidFill>
                <a:latin typeface="Cambria Math"/>
                <a:ea typeface="Cambria Math"/>
                <a:cs typeface="Cambria Math"/>
                <a:sym typeface="Cambria Math"/>
              </a:rPr>
              <a:t>Background and related works</a:t>
            </a:r>
            <a:endParaRPr sz="2811" dirty="0">
              <a:solidFill>
                <a:srgbClr val="0000FF"/>
              </a:solidFill>
              <a:latin typeface="Cambria Math"/>
              <a:ea typeface="Cambria Math"/>
              <a:cs typeface="Cambria Math"/>
              <a:sym typeface="Cambria Math"/>
            </a:endParaRPr>
          </a:p>
        </p:txBody>
      </p:sp>
      <p:sp>
        <p:nvSpPr>
          <p:cNvPr id="84" name="Google Shape;84;p4"/>
          <p:cNvSpPr txBox="1">
            <a:spLocks noGrp="1"/>
          </p:cNvSpPr>
          <p:nvPr>
            <p:ph type="body" idx="1"/>
          </p:nvPr>
        </p:nvSpPr>
        <p:spPr>
          <a:xfrm>
            <a:off x="0" y="572700"/>
            <a:ext cx="9204900" cy="4570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600" dirty="0">
                <a:solidFill>
                  <a:schemeClr val="dk1"/>
                </a:solidFill>
                <a:latin typeface="Cambria Math"/>
                <a:ea typeface="Cambria Math"/>
                <a:cs typeface="Cambria Math"/>
                <a:sym typeface="Cambria Math"/>
              </a:rPr>
              <a:t>Ridership reached record highs on micromobility systems according to NABSA (225M trips in 2024 [4])</a:t>
            </a:r>
            <a:endParaRPr sz="1600" dirty="0"/>
          </a:p>
          <a:p>
            <a:pPr marL="0" lvl="0" indent="0">
              <a:lnSpc>
                <a:spcPct val="100000"/>
              </a:lnSpc>
              <a:spcBef>
                <a:spcPts val="1200"/>
              </a:spcBef>
              <a:buNone/>
            </a:pPr>
            <a:r>
              <a:rPr lang="en-IE" sz="1600" dirty="0">
                <a:solidFill>
                  <a:schemeClr val="tx1"/>
                </a:solidFill>
                <a:latin typeface="Cambria Math" panose="02040503050406030204" pitchFamily="18" charset="0"/>
                <a:ea typeface="Cambria Math" panose="02040503050406030204" pitchFamily="18" charset="0"/>
              </a:rPr>
              <a:t>Micromobility research focuses on ridership and injuries, not routing safety</a:t>
            </a:r>
            <a:r>
              <a:rPr lang="en-GB" sz="1600" dirty="0">
                <a:solidFill>
                  <a:schemeClr val="dk1"/>
                </a:solidFill>
                <a:latin typeface="Cambria Math"/>
                <a:ea typeface="Cambria Math"/>
                <a:cs typeface="Cambria Math"/>
                <a:sym typeface="Cambria Math"/>
              </a:rPr>
              <a:t>:</a:t>
            </a:r>
            <a:endParaRPr sz="1600" dirty="0">
              <a:solidFill>
                <a:schemeClr val="dk1"/>
              </a:solidFill>
              <a:latin typeface="Cambria Math"/>
              <a:ea typeface="Cambria Math"/>
              <a:cs typeface="Cambria Math"/>
              <a:sym typeface="Cambria Math"/>
            </a:endParaRPr>
          </a:p>
          <a:p>
            <a:pPr marL="914400" lvl="0" indent="-330200" algn="l" rtl="0">
              <a:lnSpc>
                <a:spcPct val="100000"/>
              </a:lnSpc>
              <a:spcBef>
                <a:spcPts val="1200"/>
              </a:spcBef>
              <a:spcAft>
                <a:spcPts val="0"/>
              </a:spcAft>
              <a:buClr>
                <a:schemeClr val="dk1"/>
              </a:buClr>
              <a:buSzPts val="1600"/>
              <a:buFont typeface="Cambria Math"/>
              <a:buAutoNum type="arabicPeriod"/>
            </a:pPr>
            <a:r>
              <a:rPr lang="en-GB" sz="1600" dirty="0">
                <a:solidFill>
                  <a:schemeClr val="dk1"/>
                </a:solidFill>
                <a:latin typeface="Cambria Math"/>
                <a:ea typeface="Cambria Math"/>
                <a:cs typeface="Cambria Math"/>
                <a:sym typeface="Cambria Math"/>
              </a:rPr>
              <a:t>[5] combined YOLO v5 object detection with semantic segmentation of streetscapes &amp; street-level scoring tool. 2 faults: outdated/ blurry imagery &amp; scoring is preference-blind. </a:t>
            </a:r>
            <a:endParaRPr sz="1600" dirty="0">
              <a:solidFill>
                <a:schemeClr val="dk1"/>
              </a:solidFill>
              <a:latin typeface="Cambria Math"/>
              <a:ea typeface="Cambria Math"/>
              <a:cs typeface="Cambria Math"/>
              <a:sym typeface="Cambria Math"/>
            </a:endParaRPr>
          </a:p>
          <a:p>
            <a:pPr marL="914400" lvl="0" indent="-330200" algn="l" rtl="0">
              <a:lnSpc>
                <a:spcPct val="100000"/>
              </a:lnSpc>
              <a:spcBef>
                <a:spcPts val="0"/>
              </a:spcBef>
              <a:spcAft>
                <a:spcPts val="0"/>
              </a:spcAft>
              <a:buClr>
                <a:schemeClr val="dk1"/>
              </a:buClr>
              <a:buSzPts val="1600"/>
              <a:buFont typeface="Cambria Math"/>
              <a:buAutoNum type="arabicPeriod"/>
            </a:pPr>
            <a:r>
              <a:rPr lang="en-GB" sz="1600" dirty="0">
                <a:solidFill>
                  <a:schemeClr val="dk1"/>
                </a:solidFill>
                <a:latin typeface="Cambria Math"/>
                <a:ea typeface="Cambria Math"/>
                <a:cs typeface="Cambria Math"/>
                <a:sym typeface="Cambria Math"/>
              </a:rPr>
              <a:t>[6] shows risk exposure reduction possible, but with inconsistent/ non-standardised measuring tools plus biased user behavioural surveys. </a:t>
            </a:r>
            <a:endParaRPr sz="1600" dirty="0">
              <a:solidFill>
                <a:schemeClr val="dk1"/>
              </a:solidFill>
              <a:latin typeface="Cambria Math"/>
              <a:ea typeface="Cambria Math"/>
              <a:cs typeface="Cambria Math"/>
              <a:sym typeface="Cambria Math"/>
            </a:endParaRPr>
          </a:p>
          <a:p>
            <a:pPr marL="0" lvl="0" indent="0" algn="l" rtl="0">
              <a:lnSpc>
                <a:spcPct val="100000"/>
              </a:lnSpc>
              <a:spcBef>
                <a:spcPts val="600"/>
              </a:spcBef>
              <a:spcAft>
                <a:spcPts val="0"/>
              </a:spcAft>
              <a:buNone/>
            </a:pPr>
            <a:r>
              <a:rPr lang="en-GB" sz="1600" dirty="0">
                <a:solidFill>
                  <a:schemeClr val="dk1"/>
                </a:solidFill>
                <a:latin typeface="Cambria Math"/>
                <a:ea typeface="Cambria Math"/>
                <a:cs typeface="Cambria Math"/>
                <a:sym typeface="Cambria Math"/>
              </a:rPr>
              <a:t>               Safety research ignores rider preferences in deciding recommended routes </a:t>
            </a:r>
            <a:r>
              <a:rPr lang="en-GB" sz="1600" i="1" dirty="0">
                <a:solidFill>
                  <a:schemeClr val="dk1"/>
                </a:solidFill>
                <a:latin typeface="Cambria Math"/>
                <a:ea typeface="Cambria Math"/>
                <a:cs typeface="Cambria Math"/>
                <a:sym typeface="Cambria Math"/>
              </a:rPr>
              <a:t>chosen</a:t>
            </a:r>
            <a:r>
              <a:rPr lang="en-GB" sz="1600" dirty="0">
                <a:solidFill>
                  <a:schemeClr val="dk1"/>
                </a:solidFill>
                <a:latin typeface="Cambria Math"/>
                <a:ea typeface="Cambria Math"/>
                <a:cs typeface="Cambria Math"/>
                <a:sym typeface="Cambria Math"/>
              </a:rPr>
              <a:t>.</a:t>
            </a:r>
            <a:endParaRPr sz="1600" dirty="0"/>
          </a:p>
          <a:p>
            <a:pPr marL="0" lvl="0" indent="0" algn="l" rtl="0">
              <a:lnSpc>
                <a:spcPct val="100000"/>
              </a:lnSpc>
              <a:spcBef>
                <a:spcPts val="600"/>
              </a:spcBef>
              <a:spcAft>
                <a:spcPts val="0"/>
              </a:spcAft>
              <a:buNone/>
            </a:pPr>
            <a:r>
              <a:rPr lang="en-GB" sz="1600" dirty="0">
                <a:solidFill>
                  <a:schemeClr val="dk1"/>
                </a:solidFill>
                <a:latin typeface="Cambria Math"/>
                <a:ea typeface="Cambria Math"/>
                <a:cs typeface="Cambria Math"/>
                <a:sym typeface="Cambria Math"/>
              </a:rPr>
              <a:t>              Swarm algorithms are ideal for </a:t>
            </a:r>
            <a:r>
              <a:rPr lang="en-GB" sz="1600" i="1" dirty="0">
                <a:solidFill>
                  <a:schemeClr val="dk1"/>
                </a:solidFill>
                <a:latin typeface="Cambria Math"/>
                <a:ea typeface="Cambria Math"/>
                <a:cs typeface="Cambria Math"/>
                <a:sym typeface="Cambria Math"/>
              </a:rPr>
              <a:t>Multi-Objective Optimisation Problems</a:t>
            </a:r>
            <a:r>
              <a:rPr lang="en-GB" sz="1600" dirty="0">
                <a:solidFill>
                  <a:schemeClr val="dk1"/>
                </a:solidFill>
                <a:latin typeface="Cambria Math"/>
                <a:ea typeface="Cambria Math"/>
                <a:cs typeface="Cambria Math"/>
                <a:sym typeface="Cambria Math"/>
              </a:rPr>
              <a:t> under incomplete info. </a:t>
            </a:r>
            <a:endParaRPr sz="1600" dirty="0">
              <a:solidFill>
                <a:schemeClr val="dk1"/>
              </a:solidFill>
              <a:latin typeface="Cambria Math"/>
              <a:ea typeface="Cambria Math"/>
              <a:cs typeface="Cambria Math"/>
              <a:sym typeface="Cambria Math"/>
            </a:endParaRPr>
          </a:p>
          <a:p>
            <a:pPr marL="0" lvl="0" indent="0" algn="l" rtl="0">
              <a:lnSpc>
                <a:spcPct val="100000"/>
              </a:lnSpc>
              <a:spcBef>
                <a:spcPts val="600"/>
              </a:spcBef>
              <a:spcAft>
                <a:spcPts val="0"/>
              </a:spcAft>
              <a:buNone/>
            </a:pPr>
            <a:r>
              <a:rPr lang="en-GB" sz="1600" dirty="0">
                <a:solidFill>
                  <a:schemeClr val="dk1"/>
                </a:solidFill>
                <a:latin typeface="Cambria Math"/>
                <a:ea typeface="Cambria Math"/>
                <a:cs typeface="Cambria Math"/>
                <a:sym typeface="Cambria Math"/>
              </a:rPr>
              <a:t>Three (together) tackle above failures:</a:t>
            </a:r>
            <a:endParaRPr sz="1600" dirty="0">
              <a:solidFill>
                <a:schemeClr val="dk1"/>
              </a:solidFill>
              <a:latin typeface="Cambria Math"/>
              <a:ea typeface="Cambria Math"/>
              <a:cs typeface="Cambria Math"/>
              <a:sym typeface="Cambria Math"/>
            </a:endParaRPr>
          </a:p>
          <a:p>
            <a:pPr marL="457200" lvl="0" indent="-330200" algn="l" rtl="0">
              <a:lnSpc>
                <a:spcPct val="100000"/>
              </a:lnSpc>
              <a:spcBef>
                <a:spcPts val="600"/>
              </a:spcBef>
              <a:spcAft>
                <a:spcPts val="0"/>
              </a:spcAft>
              <a:buClr>
                <a:schemeClr val="dk1"/>
              </a:buClr>
              <a:buSzPts val="1600"/>
              <a:buFont typeface="Cambria Math"/>
              <a:buAutoNum type="arabicPeriod"/>
            </a:pPr>
            <a:r>
              <a:rPr lang="en-GB" sz="1600" dirty="0">
                <a:solidFill>
                  <a:schemeClr val="dk1"/>
                </a:solidFill>
                <a:latin typeface="Cambria Math"/>
                <a:ea typeface="Cambria Math"/>
                <a:cs typeface="Cambria Math"/>
                <a:sym typeface="Cambria Math"/>
              </a:rPr>
              <a:t>PSO shown to be good for cluster routing in Industrial Sensor Networks [7] (sparse-data case). </a:t>
            </a:r>
            <a:endParaRPr sz="1600" dirty="0">
              <a:solidFill>
                <a:schemeClr val="dk1"/>
              </a:solidFill>
              <a:latin typeface="Cambria Math"/>
              <a:ea typeface="Cambria Math"/>
              <a:cs typeface="Cambria Math"/>
              <a:sym typeface="Cambria Math"/>
            </a:endParaRPr>
          </a:p>
          <a:p>
            <a:pPr marL="457200" lvl="0" indent="-330200" algn="l" rtl="0">
              <a:lnSpc>
                <a:spcPct val="100000"/>
              </a:lnSpc>
              <a:spcBef>
                <a:spcPts val="0"/>
              </a:spcBef>
              <a:spcAft>
                <a:spcPts val="0"/>
              </a:spcAft>
              <a:buClr>
                <a:schemeClr val="dk1"/>
              </a:buClr>
              <a:buSzPts val="1600"/>
              <a:buFont typeface="Cambria Math"/>
              <a:buAutoNum type="arabicPeriod"/>
            </a:pPr>
            <a:r>
              <a:rPr lang="en-GB" sz="1600" dirty="0">
                <a:solidFill>
                  <a:schemeClr val="dk1"/>
                </a:solidFill>
                <a:latin typeface="Cambria Math"/>
                <a:ea typeface="Cambria Math"/>
                <a:cs typeface="Cambria Math"/>
                <a:sym typeface="Cambria Math"/>
              </a:rPr>
              <a:t>ACO applied to 3D pipeline layout [8] (tractability case). </a:t>
            </a:r>
            <a:endParaRPr sz="1600" dirty="0">
              <a:solidFill>
                <a:schemeClr val="dk1"/>
              </a:solidFill>
              <a:latin typeface="Cambria Math"/>
              <a:ea typeface="Cambria Math"/>
              <a:cs typeface="Cambria Math"/>
              <a:sym typeface="Cambria Math"/>
            </a:endParaRPr>
          </a:p>
          <a:p>
            <a:pPr marL="457200" lvl="0" indent="-330200" algn="l" rtl="0">
              <a:lnSpc>
                <a:spcPct val="100000"/>
              </a:lnSpc>
              <a:spcBef>
                <a:spcPts val="0"/>
              </a:spcBef>
              <a:spcAft>
                <a:spcPts val="0"/>
              </a:spcAft>
              <a:buClr>
                <a:schemeClr val="dk1"/>
              </a:buClr>
              <a:buSzPts val="1600"/>
              <a:buFont typeface="Cambria Math"/>
              <a:buAutoNum type="arabicPeriod"/>
            </a:pPr>
            <a:r>
              <a:rPr lang="en-GB" sz="1600" dirty="0">
                <a:solidFill>
                  <a:schemeClr val="dk1"/>
                </a:solidFill>
                <a:latin typeface="Cambria Math"/>
                <a:ea typeface="Cambria Math"/>
                <a:cs typeface="Cambria Math"/>
                <a:sym typeface="Cambria Math"/>
              </a:rPr>
              <a:t>WPO to deal with annual leave scheduling, under business constraints [9] (preference case). </a:t>
            </a:r>
            <a:endParaRPr sz="1600" dirty="0">
              <a:solidFill>
                <a:schemeClr val="dk1"/>
              </a:solidFill>
              <a:latin typeface="Cambria Math"/>
              <a:ea typeface="Cambria Math"/>
              <a:cs typeface="Cambria Math"/>
              <a:sym typeface="Cambria Math"/>
            </a:endParaRPr>
          </a:p>
          <a:p>
            <a:pPr marL="0" lvl="0" indent="0" algn="l" rtl="0">
              <a:lnSpc>
                <a:spcPct val="100000"/>
              </a:lnSpc>
              <a:spcBef>
                <a:spcPts val="1200"/>
              </a:spcBef>
              <a:spcAft>
                <a:spcPts val="0"/>
              </a:spcAft>
              <a:buNone/>
            </a:pPr>
            <a:r>
              <a:rPr lang="en-GB" sz="1600" dirty="0">
                <a:solidFill>
                  <a:schemeClr val="dk1"/>
                </a:solidFill>
                <a:latin typeface="Cambria Math"/>
                <a:ea typeface="Cambria Math"/>
                <a:cs typeface="Cambria Math"/>
                <a:sym typeface="Cambria Math"/>
              </a:rPr>
              <a:t>None has been applied to micromobility route safety [10] [11], but together they cover what a scoring method working from degraded street data, a large route space and rider preference requires.</a:t>
            </a:r>
            <a:endParaRPr sz="1600" dirty="0">
              <a:solidFill>
                <a:schemeClr val="dk1"/>
              </a:solidFill>
              <a:latin typeface="Cambria Math"/>
              <a:ea typeface="Cambria Math"/>
              <a:cs typeface="Cambria Math"/>
              <a:sym typeface="Cambria Math"/>
            </a:endParaRPr>
          </a:p>
        </p:txBody>
      </p:sp>
      <p:sp>
        <p:nvSpPr>
          <p:cNvPr id="85" name="Google Shape;85;p4"/>
          <p:cNvSpPr/>
          <p:nvPr/>
        </p:nvSpPr>
        <p:spPr>
          <a:xfrm>
            <a:off x="51515" y="2858100"/>
            <a:ext cx="596046" cy="211200"/>
          </a:xfrm>
          <a:prstGeom prst="rightArrow">
            <a:avLst>
              <a:gd name="adj1" fmla="val 50000"/>
              <a:gd name="adj2" fmla="val 5000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FF0000"/>
              </a:highligh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4">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4">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4">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4">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g3f5fa06e884_0_18" descr="Particle Swarm Optimization (PSO) — pagmo 2.19.1 documentation"/>
          <p:cNvPicPr preferRelativeResize="0"/>
          <p:nvPr/>
        </p:nvPicPr>
        <p:blipFill rotWithShape="1">
          <a:blip r:embed="rId4">
            <a:alphaModFix/>
          </a:blip>
          <a:srcRect/>
          <a:stretch/>
        </p:blipFill>
        <p:spPr>
          <a:xfrm>
            <a:off x="0" y="0"/>
            <a:ext cx="2324637" cy="1364375"/>
          </a:xfrm>
          <a:prstGeom prst="rect">
            <a:avLst/>
          </a:prstGeom>
          <a:noFill/>
          <a:ln>
            <a:noFill/>
          </a:ln>
        </p:spPr>
      </p:pic>
      <p:pic>
        <p:nvPicPr>
          <p:cNvPr id="91" name="Google Shape;91;g3f5fa06e884_0_18" descr="Ant Colony Optimization - an overview | ScienceDirect Topics"/>
          <p:cNvPicPr preferRelativeResize="0"/>
          <p:nvPr/>
        </p:nvPicPr>
        <p:blipFill rotWithShape="1">
          <a:blip r:embed="rId5">
            <a:alphaModFix/>
          </a:blip>
          <a:srcRect/>
          <a:stretch/>
        </p:blipFill>
        <p:spPr>
          <a:xfrm>
            <a:off x="1867417" y="1364375"/>
            <a:ext cx="3361405" cy="1819875"/>
          </a:xfrm>
          <a:prstGeom prst="rect">
            <a:avLst/>
          </a:prstGeom>
          <a:noFill/>
          <a:ln>
            <a:noFill/>
          </a:ln>
        </p:spPr>
      </p:pic>
      <p:pic>
        <p:nvPicPr>
          <p:cNvPr id="92" name="Google Shape;92;g3f5fa06e884_0_18" descr="A distance determination wolf pack algorithm for solving high-dimensional  complex functions and its application | The Journal of Supercomputing |  Springer Nature Link"/>
          <p:cNvPicPr preferRelativeResize="0"/>
          <p:nvPr/>
        </p:nvPicPr>
        <p:blipFill rotWithShape="1">
          <a:blip r:embed="rId6">
            <a:alphaModFix/>
          </a:blip>
          <a:srcRect/>
          <a:stretch/>
        </p:blipFill>
        <p:spPr>
          <a:xfrm>
            <a:off x="45073" y="3207524"/>
            <a:ext cx="2984751" cy="1878025"/>
          </a:xfrm>
          <a:prstGeom prst="rect">
            <a:avLst/>
          </a:prstGeom>
          <a:noFill/>
          <a:ln>
            <a:noFill/>
          </a:ln>
        </p:spPr>
      </p:pic>
      <p:sp>
        <p:nvSpPr>
          <p:cNvPr id="93" name="Google Shape;93;g3f5fa06e884_0_18"/>
          <p:cNvSpPr/>
          <p:nvPr/>
        </p:nvSpPr>
        <p:spPr>
          <a:xfrm>
            <a:off x="5637504" y="272609"/>
            <a:ext cx="2984750" cy="76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dirty="0">
                <a:latin typeface="Cambria Math"/>
                <a:ea typeface="Cambria Math"/>
                <a:cs typeface="Cambria Math"/>
                <a:sym typeface="Cambria Math"/>
              </a:rPr>
              <a:t>Particle Swarm Optimisation</a:t>
            </a:r>
            <a:endParaRPr sz="1800" dirty="0">
              <a:latin typeface="Cambria Math"/>
              <a:ea typeface="Cambria Math"/>
              <a:cs typeface="Cambria Math"/>
              <a:sym typeface="Cambria Math"/>
            </a:endParaRPr>
          </a:p>
        </p:txBody>
      </p:sp>
      <p:sp>
        <p:nvSpPr>
          <p:cNvPr id="94" name="Google Shape;94;g3f5fa06e884_0_18"/>
          <p:cNvSpPr/>
          <p:nvPr/>
        </p:nvSpPr>
        <p:spPr>
          <a:xfrm>
            <a:off x="5637491" y="1890000"/>
            <a:ext cx="2984751" cy="76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dirty="0">
                <a:latin typeface="Cambria Math"/>
                <a:ea typeface="Cambria Math"/>
                <a:cs typeface="Cambria Math"/>
                <a:sym typeface="Cambria Math"/>
              </a:rPr>
              <a:t>Ant Colony Optimisation</a:t>
            </a:r>
            <a:endParaRPr sz="1800" dirty="0">
              <a:latin typeface="Cambria Math"/>
              <a:ea typeface="Cambria Math"/>
              <a:cs typeface="Cambria Math"/>
              <a:sym typeface="Cambria Math"/>
            </a:endParaRPr>
          </a:p>
        </p:txBody>
      </p:sp>
      <p:sp>
        <p:nvSpPr>
          <p:cNvPr id="95" name="Google Shape;95;g3f5fa06e884_0_18"/>
          <p:cNvSpPr/>
          <p:nvPr/>
        </p:nvSpPr>
        <p:spPr>
          <a:xfrm>
            <a:off x="5637490" y="3582075"/>
            <a:ext cx="2984759" cy="769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a:latin typeface="Cambria Math"/>
                <a:ea typeface="Cambria Math"/>
                <a:cs typeface="Cambria Math"/>
                <a:sym typeface="Cambria Math"/>
              </a:rPr>
              <a:t>Wolf Pack Optimisation</a:t>
            </a:r>
            <a:endParaRPr sz="1800">
              <a:latin typeface="Cambria Math"/>
              <a:ea typeface="Cambria Math"/>
              <a:cs typeface="Cambria Math"/>
              <a:sym typeface="Cambria Math"/>
            </a:endParaRPr>
          </a:p>
        </p:txBody>
      </p:sp>
      <p:cxnSp>
        <p:nvCxnSpPr>
          <p:cNvPr id="96" name="Google Shape;96;g3f5fa06e884_0_18"/>
          <p:cNvCxnSpPr>
            <a:cxnSpLocks/>
            <a:stCxn id="93" idx="1"/>
            <a:endCxn id="90" idx="3"/>
          </p:cNvCxnSpPr>
          <p:nvPr/>
        </p:nvCxnSpPr>
        <p:spPr>
          <a:xfrm flipH="1">
            <a:off x="2324637" y="657509"/>
            <a:ext cx="3312867" cy="24679"/>
          </a:xfrm>
          <a:prstGeom prst="straightConnector1">
            <a:avLst/>
          </a:prstGeom>
          <a:noFill/>
          <a:ln w="9525" cap="flat" cmpd="sng">
            <a:solidFill>
              <a:schemeClr val="dk2"/>
            </a:solidFill>
            <a:prstDash val="solid"/>
            <a:round/>
            <a:headEnd type="none" w="med" len="med"/>
            <a:tailEnd type="triangle" w="med" len="med"/>
          </a:ln>
        </p:spPr>
      </p:cxnSp>
      <p:cxnSp>
        <p:nvCxnSpPr>
          <p:cNvPr id="97" name="Google Shape;97;g3f5fa06e884_0_18"/>
          <p:cNvCxnSpPr>
            <a:cxnSpLocks/>
            <a:stCxn id="95" idx="1"/>
          </p:cNvCxnSpPr>
          <p:nvPr/>
        </p:nvCxnSpPr>
        <p:spPr>
          <a:xfrm flipH="1" flipV="1">
            <a:off x="3021850" y="3963675"/>
            <a:ext cx="2615640" cy="3300"/>
          </a:xfrm>
          <a:prstGeom prst="straightConnector1">
            <a:avLst/>
          </a:prstGeom>
          <a:noFill/>
          <a:ln w="9525" cap="flat" cmpd="sng">
            <a:solidFill>
              <a:schemeClr val="dk2"/>
            </a:solidFill>
            <a:prstDash val="solid"/>
            <a:round/>
            <a:headEnd type="none" w="med" len="med"/>
            <a:tailEnd type="triangle" w="med" len="med"/>
          </a:ln>
        </p:spPr>
      </p:cxnSp>
      <p:cxnSp>
        <p:nvCxnSpPr>
          <p:cNvPr id="98" name="Google Shape;98;g3f5fa06e884_0_18"/>
          <p:cNvCxnSpPr>
            <a:cxnSpLocks/>
            <a:stCxn id="94" idx="1"/>
            <a:endCxn id="91" idx="3"/>
          </p:cNvCxnSpPr>
          <p:nvPr/>
        </p:nvCxnSpPr>
        <p:spPr>
          <a:xfrm flipH="1" flipV="1">
            <a:off x="5228822" y="2274313"/>
            <a:ext cx="408669" cy="587"/>
          </a:xfrm>
          <a:prstGeom prst="straightConnector1">
            <a:avLst/>
          </a:prstGeom>
          <a:noFill/>
          <a:ln w="9525" cap="flat" cmpd="sng">
            <a:solidFill>
              <a:schemeClr val="dk2"/>
            </a:solidFill>
            <a:prstDash val="solid"/>
            <a:round/>
            <a:headEnd type="none" w="med" len="med"/>
            <a:tailEnd type="triangle" w="med" len="med"/>
          </a:ln>
        </p:spPr>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4" grpId="0" animBg="1"/>
      <p:bldP spid="9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5"/>
          <p:cNvSpPr txBox="1">
            <a:spLocks noGrp="1"/>
          </p:cNvSpPr>
          <p:nvPr>
            <p:ph type="title"/>
          </p:nvPr>
        </p:nvSpPr>
        <p:spPr>
          <a:xfrm>
            <a:off x="0" y="0"/>
            <a:ext cx="9144000" cy="523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sz="2811" dirty="0">
                <a:solidFill>
                  <a:srgbClr val="0000FF"/>
                </a:solidFill>
                <a:latin typeface="Cambria Math"/>
                <a:ea typeface="Cambria Math"/>
                <a:cs typeface="Cambria Math"/>
                <a:sym typeface="Cambria Math"/>
              </a:rPr>
              <a:t>Methodology</a:t>
            </a:r>
            <a:endParaRPr sz="2811" dirty="0">
              <a:solidFill>
                <a:srgbClr val="0000FF"/>
              </a:solidFill>
              <a:latin typeface="Cambria Math"/>
              <a:ea typeface="Cambria Math"/>
              <a:cs typeface="Cambria Math"/>
              <a:sym typeface="Cambria Math"/>
            </a:endParaRPr>
          </a:p>
        </p:txBody>
      </p:sp>
      <p:sp>
        <p:nvSpPr>
          <p:cNvPr id="104" name="Google Shape;104;p5"/>
          <p:cNvSpPr txBox="1">
            <a:spLocks noGrp="1"/>
          </p:cNvSpPr>
          <p:nvPr>
            <p:ph type="body" idx="1"/>
          </p:nvPr>
        </p:nvSpPr>
        <p:spPr>
          <a:xfrm>
            <a:off x="0" y="414336"/>
            <a:ext cx="9144000" cy="4729163"/>
          </a:xfrm>
          <a:prstGeom prst="rect">
            <a:avLst/>
          </a:prstGeom>
          <a:noFill/>
          <a:ln>
            <a:noFill/>
          </a:ln>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Data from </a:t>
            </a:r>
            <a:r>
              <a:rPr lang="en-GB" sz="1600" i="1" dirty="0">
                <a:solidFill>
                  <a:schemeClr val="dk1"/>
                </a:solidFill>
                <a:latin typeface="Cambria Math"/>
                <a:ea typeface="Cambria Math"/>
                <a:cs typeface="Cambria Math"/>
                <a:sym typeface="Cambria Math"/>
              </a:rPr>
              <a:t>Dublin Active Travel Collision Tracker  </a:t>
            </a:r>
            <a:r>
              <a:rPr lang="en-GB" sz="1600" dirty="0">
                <a:solidFill>
                  <a:schemeClr val="dk1"/>
                </a:solidFill>
                <a:latin typeface="Cambria Math"/>
                <a:ea typeface="Cambria Math"/>
                <a:cs typeface="Cambria Math"/>
                <a:sym typeface="Cambria Math"/>
              </a:rPr>
              <a:t>(Dublin Inquirer &amp; UCD Spatial Dynamics Lab)</a:t>
            </a:r>
            <a:endParaRPr sz="1600" dirty="0">
              <a:solidFill>
                <a:schemeClr val="dk1"/>
              </a:solidFill>
              <a:latin typeface="Cambria Math"/>
              <a:ea typeface="Cambria Math"/>
              <a:cs typeface="Cambria Math"/>
              <a:sym typeface="Cambria Math"/>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Incidents had date standardised - incidents before 2020 were removed.</a:t>
            </a:r>
            <a:endParaRPr sz="1600" dirty="0">
              <a:solidFill>
                <a:schemeClr val="dk1"/>
              </a:solidFill>
              <a:latin typeface="Cambria Math"/>
              <a:ea typeface="Cambria Math"/>
              <a:cs typeface="Cambria Math"/>
              <a:sym typeface="Cambria Math"/>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OpenStreetMap data obtained and incident coordinates -&gt; OSM IDs for mapping.</a:t>
            </a:r>
            <a:endParaRPr sz="1600" dirty="0">
              <a:solidFill>
                <a:schemeClr val="dk1"/>
              </a:solidFill>
              <a:latin typeface="Cambria Math"/>
              <a:ea typeface="Cambria Math"/>
              <a:cs typeface="Cambria Math"/>
              <a:sym typeface="Cambria Math"/>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Using Python, Networkx, OSMNX &amp; Python Folium, HTML maps created to choose testing routes.</a:t>
            </a:r>
            <a:endParaRPr sz="1600" dirty="0">
              <a:solidFill>
                <a:schemeClr val="dk1"/>
              </a:solidFill>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Standard algorithms created with Python, tested with city, start, end destination </a:t>
            </a:r>
            <a:r>
              <a:rPr lang="en-IE" sz="1600" dirty="0">
                <a:solidFill>
                  <a:schemeClr val="dk1"/>
                </a:solidFill>
                <a:latin typeface="Cambria Math"/>
                <a:ea typeface="Cambria Math"/>
                <a:cs typeface="Cambria Math"/>
                <a:sym typeface="Cambria Math"/>
              </a:rPr>
              <a:t>at </a:t>
            </a:r>
            <a:r>
              <a:rPr lang="en-IE" sz="1600" b="1" dirty="0">
                <a:solidFill>
                  <a:schemeClr val="dk1"/>
                </a:solidFill>
                <a:latin typeface="Courier New" panose="02070309020205020404" pitchFamily="49" charset="0"/>
                <a:ea typeface="Cambria Math"/>
                <a:cs typeface="Courier New" panose="02070309020205020404" pitchFamily="49" charset="0"/>
                <a:sym typeface="Cambria Math"/>
              </a:rPr>
              <a:t>cmd.</a:t>
            </a:r>
            <a:endParaRPr sz="1600" b="1" dirty="0">
              <a:solidFill>
                <a:schemeClr val="dk1"/>
              </a:solidFill>
              <a:latin typeface="Courier New" panose="02070309020205020404" pitchFamily="49" charset="0"/>
              <a:ea typeface="Cambria Math"/>
              <a:cs typeface="Courier New" panose="02070309020205020404" pitchFamily="49" charset="0"/>
              <a:sym typeface="Cambria Math"/>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Equivalent Google Map routes obtained &amp; compared to these generated routes.</a:t>
            </a:r>
            <a:endParaRPr sz="1600" dirty="0">
              <a:solidFill>
                <a:schemeClr val="dk1"/>
              </a:solidFill>
              <a:latin typeface="Cambria Math"/>
              <a:ea typeface="Cambria Math"/>
              <a:cs typeface="Cambria Math"/>
              <a:sym typeface="Cambria Math"/>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Swarming algs compared &amp; contrasted (time taken, route distance, safety gains, risk reduction).</a:t>
            </a:r>
            <a:endParaRPr sz="1600" dirty="0">
              <a:solidFill>
                <a:schemeClr val="dk1"/>
              </a:solidFill>
              <a:latin typeface="Cambria Math"/>
              <a:ea typeface="Cambria Math"/>
              <a:cs typeface="Cambria Math"/>
              <a:sym typeface="Cambria Math"/>
            </a:endParaRPr>
          </a:p>
          <a:p>
            <a:pPr marL="457200" lvl="0" indent="-317500" algn="l" rtl="0">
              <a:lnSpc>
                <a:spcPct val="150000"/>
              </a:lnSpc>
              <a:spcBef>
                <a:spcPts val="0"/>
              </a:spcBef>
              <a:spcAft>
                <a:spcPts val="0"/>
              </a:spcAft>
              <a:buClr>
                <a:schemeClr val="dk1"/>
              </a:buClr>
              <a:buSzPts val="1400"/>
              <a:buFont typeface="Cambria Math"/>
              <a:buAutoNum type="arabicPeriod"/>
            </a:pPr>
            <a:r>
              <a:rPr lang="en-GB" sz="1600" dirty="0">
                <a:solidFill>
                  <a:schemeClr val="dk1"/>
                </a:solidFill>
                <a:latin typeface="Cambria Math"/>
                <a:ea typeface="Cambria Math"/>
                <a:cs typeface="Cambria Math"/>
                <a:sym typeface="Cambria Math"/>
              </a:rPr>
              <a:t>Algorithms tested for RT performance by excluding &amp; including incident data as routing algorithms generated routes to compare its features/ observe improvements.</a:t>
            </a:r>
            <a:endParaRPr sz="1600" dirty="0">
              <a:solidFill>
                <a:schemeClr val="dk1"/>
              </a:solidFill>
              <a:latin typeface="Cambria Math"/>
              <a:ea typeface="Cambria Math"/>
              <a:cs typeface="Cambria Math"/>
              <a:sym typeface="Cambria Math"/>
            </a:endParaRPr>
          </a:p>
          <a:p>
            <a:pPr marL="0" lvl="0" indent="0" algn="l" rtl="0">
              <a:lnSpc>
                <a:spcPct val="100000"/>
              </a:lnSpc>
              <a:spcBef>
                <a:spcPts val="0"/>
              </a:spcBef>
              <a:spcAft>
                <a:spcPts val="0"/>
              </a:spcAft>
              <a:buNone/>
            </a:pPr>
            <a:endParaRPr sz="1000" dirty="0">
              <a:solidFill>
                <a:schemeClr val="dk1"/>
              </a:solidFill>
              <a:latin typeface="Cambria Math"/>
              <a:ea typeface="Cambria Math"/>
              <a:cs typeface="Cambria Math"/>
              <a:sym typeface="Cambria Math"/>
            </a:endParaRPr>
          </a:p>
        </p:txBody>
      </p:sp>
      <p:pic>
        <p:nvPicPr>
          <p:cNvPr id="105" name="Google Shape;105;p5"/>
          <p:cNvPicPr preferRelativeResize="0"/>
          <p:nvPr/>
        </p:nvPicPr>
        <p:blipFill rotWithShape="1">
          <a:blip r:embed="rId4">
            <a:alphaModFix/>
          </a:blip>
          <a:srcRect/>
          <a:stretch/>
        </p:blipFill>
        <p:spPr>
          <a:xfrm>
            <a:off x="7347397" y="3419338"/>
            <a:ext cx="1796603" cy="1724161"/>
          </a:xfrm>
          <a:prstGeom prst="rect">
            <a:avLst/>
          </a:prstGeom>
          <a:noFill/>
          <a:ln>
            <a:noFill/>
          </a:ln>
        </p:spPr>
      </p:pic>
      <p:pic>
        <p:nvPicPr>
          <p:cNvPr id="3" name="Google Shape;106;p5" descr="OpenStreetMap - Coordination Office and Editor - Digitize the Planet">
            <a:extLst>
              <a:ext uri="{FF2B5EF4-FFF2-40B4-BE49-F238E27FC236}">
                <a16:creationId xmlns:a16="http://schemas.microsoft.com/office/drawing/2014/main" id="{3CE8A7E4-F1BB-77D0-7597-354E9A3B2CE6}"/>
              </a:ext>
            </a:extLst>
          </p:cNvPr>
          <p:cNvPicPr preferRelativeResize="0"/>
          <p:nvPr/>
        </p:nvPicPr>
        <p:blipFill rotWithShape="1">
          <a:blip r:embed="rId5">
            <a:alphaModFix/>
          </a:blip>
          <a:srcRect l="14700" t="17707" r="12812" b="19593"/>
          <a:stretch>
            <a:fillRect/>
          </a:stretch>
        </p:blipFill>
        <p:spPr>
          <a:xfrm>
            <a:off x="1" y="3754192"/>
            <a:ext cx="2472754" cy="1389308"/>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4">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4">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g3f5fa06e884_0_35"/>
          <p:cNvPicPr preferRelativeResize="0"/>
          <p:nvPr/>
        </p:nvPicPr>
        <p:blipFill rotWithShape="1">
          <a:blip r:embed="rId4">
            <a:alphaModFix/>
          </a:blip>
          <a:srcRect/>
          <a:stretch/>
        </p:blipFill>
        <p:spPr>
          <a:xfrm>
            <a:off x="521586" y="431427"/>
            <a:ext cx="3134175" cy="3923875"/>
          </a:xfrm>
          <a:prstGeom prst="rect">
            <a:avLst/>
          </a:prstGeom>
          <a:noFill/>
          <a:ln>
            <a:noFill/>
          </a:ln>
        </p:spPr>
      </p:pic>
      <p:pic>
        <p:nvPicPr>
          <p:cNvPr id="112" name="Google Shape;112;g3f5fa06e884_0_35"/>
          <p:cNvPicPr preferRelativeResize="0"/>
          <p:nvPr/>
        </p:nvPicPr>
        <p:blipFill rotWithShape="1">
          <a:blip r:embed="rId5">
            <a:alphaModFix/>
          </a:blip>
          <a:srcRect/>
          <a:stretch/>
        </p:blipFill>
        <p:spPr>
          <a:xfrm>
            <a:off x="5583282" y="444305"/>
            <a:ext cx="3483450" cy="3923876"/>
          </a:xfrm>
          <a:prstGeom prst="rect">
            <a:avLst/>
          </a:prstGeom>
          <a:noFill/>
          <a:ln>
            <a:noFill/>
          </a:ln>
        </p:spPr>
      </p:pic>
      <p:sp>
        <p:nvSpPr>
          <p:cNvPr id="113" name="Google Shape;113;g3f5fa06e884_0_35"/>
          <p:cNvSpPr/>
          <p:nvPr/>
        </p:nvSpPr>
        <p:spPr>
          <a:xfrm>
            <a:off x="328530" y="4417454"/>
            <a:ext cx="3382500" cy="648346"/>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dirty="0">
                <a:latin typeface="Cambria Math"/>
                <a:ea typeface="Cambria Math"/>
                <a:cs typeface="Cambria Math"/>
                <a:sym typeface="Cambria Math"/>
              </a:rPr>
              <a:t>Algorithm Generated Route (blue = shortest, cyan = safest)</a:t>
            </a:r>
            <a:endParaRPr sz="1800" dirty="0">
              <a:latin typeface="Cambria Math"/>
              <a:ea typeface="Cambria Math"/>
              <a:cs typeface="Cambria Math"/>
              <a:sym typeface="Cambria Math"/>
            </a:endParaRPr>
          </a:p>
        </p:txBody>
      </p:sp>
      <p:sp>
        <p:nvSpPr>
          <p:cNvPr id="114" name="Google Shape;114;g3f5fa06e884_0_35"/>
          <p:cNvSpPr/>
          <p:nvPr/>
        </p:nvSpPr>
        <p:spPr>
          <a:xfrm>
            <a:off x="5490296" y="4417427"/>
            <a:ext cx="3624600" cy="648347"/>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dirty="0">
                <a:latin typeface="Cambria Math"/>
                <a:ea typeface="Cambria Math"/>
                <a:cs typeface="Cambria Math"/>
                <a:sym typeface="Cambria Math"/>
              </a:rPr>
              <a:t>Google Maps equivalent for the shortest route</a:t>
            </a:r>
            <a:endParaRPr sz="1800" dirty="0">
              <a:latin typeface="Cambria Math"/>
              <a:ea typeface="Cambria Math"/>
              <a:cs typeface="Cambria Math"/>
              <a:sym typeface="Cambria Math"/>
            </a:endParaRPr>
          </a:p>
        </p:txBody>
      </p:sp>
      <p:sp>
        <p:nvSpPr>
          <p:cNvPr id="3" name="TextBox 2">
            <a:extLst>
              <a:ext uri="{FF2B5EF4-FFF2-40B4-BE49-F238E27FC236}">
                <a16:creationId xmlns:a16="http://schemas.microsoft.com/office/drawing/2014/main" id="{E2F6D0C4-19E3-BD2B-14E6-0E7FFCAA0710}"/>
              </a:ext>
            </a:extLst>
          </p:cNvPr>
          <p:cNvSpPr txBox="1"/>
          <p:nvPr/>
        </p:nvSpPr>
        <p:spPr>
          <a:xfrm>
            <a:off x="0" y="0"/>
            <a:ext cx="9144000" cy="369332"/>
          </a:xfrm>
          <a:prstGeom prst="rect">
            <a:avLst/>
          </a:prstGeom>
          <a:noFill/>
          <a:ln>
            <a:solidFill>
              <a:schemeClr val="accent1"/>
            </a:solidFill>
          </a:ln>
        </p:spPr>
        <p:txBody>
          <a:bodyPr wrap="square" rtlCol="0">
            <a:spAutoFit/>
          </a:bodyPr>
          <a:lstStyle/>
          <a:p>
            <a:pPr algn="ctr"/>
            <a:r>
              <a:rPr lang="en-IE" sz="1800" dirty="0">
                <a:solidFill>
                  <a:schemeClr val="accent1">
                    <a:lumMod val="75000"/>
                  </a:schemeClr>
                </a:solidFill>
              </a:rPr>
              <a:t>Routes Generated</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4"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g3f5fa06e884_0_40"/>
          <p:cNvPicPr preferRelativeResize="0"/>
          <p:nvPr/>
        </p:nvPicPr>
        <p:blipFill rotWithShape="1">
          <a:blip r:embed="rId4">
            <a:alphaModFix/>
          </a:blip>
          <a:srcRect/>
          <a:stretch/>
        </p:blipFill>
        <p:spPr>
          <a:xfrm>
            <a:off x="0" y="405686"/>
            <a:ext cx="9231224" cy="4737814"/>
          </a:xfrm>
          <a:prstGeom prst="rect">
            <a:avLst/>
          </a:prstGeom>
          <a:noFill/>
          <a:ln>
            <a:noFill/>
          </a:ln>
        </p:spPr>
      </p:pic>
      <p:sp>
        <p:nvSpPr>
          <p:cNvPr id="120" name="Google Shape;120;g3f5fa06e884_0_40"/>
          <p:cNvSpPr txBox="1"/>
          <p:nvPr/>
        </p:nvSpPr>
        <p:spPr>
          <a:xfrm>
            <a:off x="0" y="0"/>
            <a:ext cx="9144000" cy="461635"/>
          </a:xfrm>
          <a:prstGeom prst="rect">
            <a:avLst/>
          </a:prstGeom>
          <a:noFill/>
          <a:ln>
            <a:noFill/>
          </a:ln>
        </p:spPr>
        <p:txBody>
          <a:bodyPr spcFirstLastPara="1" wrap="square" lIns="91425" tIns="91425" rIns="91425" bIns="91425" anchor="t" anchorCtr="0">
            <a:spAutoFit/>
          </a:bodyPr>
          <a:lstStyle/>
          <a:p>
            <a:pPr lvl="0"/>
            <a:r>
              <a:rPr lang="en-IE" sz="1800" dirty="0">
                <a:latin typeface="Cambria Math" panose="02040503050406030204" pitchFamily="18" charset="0"/>
                <a:ea typeface="Cambria Math" panose="02040503050406030204" pitchFamily="18" charset="0"/>
              </a:rPr>
              <a:t>CLI displays runtime, safety gain, risk reduction &amp; route distance.</a:t>
            </a:r>
            <a:endParaRPr sz="1800" dirty="0">
              <a:solidFill>
                <a:schemeClr val="dk1"/>
              </a:solidFill>
              <a:latin typeface="Cambria Math" panose="02040503050406030204" pitchFamily="18" charset="0"/>
              <a:ea typeface="Cambria Math" panose="02040503050406030204" pitchFamily="18" charset="0"/>
              <a:cs typeface="Cambria Math"/>
              <a:sym typeface="Cambria Math"/>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119"/>
                                        </p:tgtEl>
                                        <p:attrNameLst>
                                          <p:attrName>style.visibility</p:attrName>
                                        </p:attrNameLst>
                                      </p:cBhvr>
                                      <p:to>
                                        <p:strVal val="visible"/>
                                      </p:to>
                                    </p:set>
                                    <p:animEffect transition="in" filter="barn(inVertical)">
                                      <p:cBhvr>
                                        <p:cTn id="11"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811" dirty="0">
                <a:latin typeface="Cambria Math"/>
                <a:ea typeface="Cambria Math"/>
                <a:cs typeface="Cambria Math"/>
                <a:sym typeface="Cambria Math"/>
              </a:rPr>
              <a:t>Why the techniques were used</a:t>
            </a:r>
            <a:endParaRPr sz="2811" dirty="0">
              <a:latin typeface="Cambria Math"/>
              <a:ea typeface="Cambria Math"/>
              <a:cs typeface="Cambria Math"/>
              <a:sym typeface="Cambria Math"/>
            </a:endParaRPr>
          </a:p>
        </p:txBody>
      </p:sp>
      <p:sp>
        <p:nvSpPr>
          <p:cNvPr id="126" name="Google Shape;126;p6"/>
          <p:cNvSpPr txBox="1"/>
          <p:nvPr/>
        </p:nvSpPr>
        <p:spPr>
          <a:xfrm>
            <a:off x="0" y="572700"/>
            <a:ext cx="9144000" cy="46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800" dirty="0">
                <a:solidFill>
                  <a:schemeClr val="dk1"/>
                </a:solidFill>
                <a:latin typeface="Cambria Math"/>
                <a:ea typeface="Cambria Math"/>
                <a:cs typeface="Cambria Math"/>
                <a:sym typeface="Cambria Math"/>
              </a:rPr>
              <a:t>We compare conventional &amp; swarm algorithms for safety-aware micromobility routing.</a:t>
            </a:r>
            <a:endParaRPr sz="1800" dirty="0">
              <a:solidFill>
                <a:schemeClr val="dk1"/>
              </a:solidFill>
              <a:latin typeface="Cambria Math"/>
              <a:ea typeface="Cambria Math"/>
              <a:cs typeface="Cambria Math"/>
              <a:sym typeface="Cambria Math"/>
            </a:endParaRPr>
          </a:p>
          <a:p>
            <a:pPr marL="12700" lvl="0" indent="0" algn="l" rtl="0">
              <a:lnSpc>
                <a:spcPct val="115000"/>
              </a:lnSpc>
              <a:spcBef>
                <a:spcPts val="1200"/>
              </a:spcBef>
              <a:spcAft>
                <a:spcPts val="0"/>
              </a:spcAft>
              <a:buNone/>
            </a:pPr>
            <a:endParaRPr sz="1800" dirty="0">
              <a:solidFill>
                <a:schemeClr val="dk2"/>
              </a:solidFill>
            </a:endParaRPr>
          </a:p>
        </p:txBody>
      </p:sp>
      <p:sp>
        <p:nvSpPr>
          <p:cNvPr id="127" name="Google Shape;127;p6"/>
          <p:cNvSpPr txBox="1"/>
          <p:nvPr/>
        </p:nvSpPr>
        <p:spPr>
          <a:xfrm>
            <a:off x="0" y="968075"/>
            <a:ext cx="4796400" cy="114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500" b="1" dirty="0">
                <a:solidFill>
                  <a:schemeClr val="accent2"/>
                </a:solidFill>
              </a:rPr>
              <a:t>Dijkstra &amp; A*</a:t>
            </a:r>
            <a:endParaRPr sz="1500" b="1" dirty="0">
              <a:solidFill>
                <a:schemeClr val="accent2"/>
              </a:solidFill>
            </a:endParaRPr>
          </a:p>
          <a:p>
            <a:pPr marL="0" lvl="0" indent="0" algn="l" rtl="0">
              <a:lnSpc>
                <a:spcPct val="115000"/>
              </a:lnSpc>
              <a:spcBef>
                <a:spcPts val="0"/>
              </a:spcBef>
              <a:spcAft>
                <a:spcPts val="0"/>
              </a:spcAft>
              <a:buClr>
                <a:schemeClr val="dk1"/>
              </a:buClr>
              <a:buSzPts val="1100"/>
              <a:buFont typeface="Arial"/>
              <a:buNone/>
            </a:pPr>
            <a:r>
              <a:rPr lang="en-GB" sz="1450" b="1" dirty="0">
                <a:solidFill>
                  <a:srgbClr val="4285F4"/>
                </a:solidFill>
              </a:rPr>
              <a:t>Deterministic baseline</a:t>
            </a:r>
            <a:endParaRPr sz="1450" b="1" dirty="0">
              <a:solidFill>
                <a:srgbClr val="4285F4"/>
              </a:solidFill>
            </a:endParaRPr>
          </a:p>
          <a:p>
            <a:pPr marL="457200" lvl="0" indent="-342900" algn="l" rtl="0">
              <a:lnSpc>
                <a:spcPct val="100000"/>
              </a:lnSpc>
              <a:spcBef>
                <a:spcPts val="0"/>
              </a:spcBef>
              <a:spcAft>
                <a:spcPts val="0"/>
              </a:spcAft>
              <a:buClr>
                <a:schemeClr val="dk2"/>
              </a:buClr>
              <a:buSzPct val="56000"/>
              <a:buFont typeface="Cambria Math"/>
              <a:buChar char="●"/>
            </a:pPr>
            <a:r>
              <a:rPr lang="en-GB" sz="1800" dirty="0">
                <a:solidFill>
                  <a:schemeClr val="dk2"/>
                </a:solidFill>
                <a:latin typeface="Cambria Math"/>
                <a:ea typeface="Cambria Math"/>
                <a:cs typeface="Cambria Math"/>
                <a:sym typeface="Cambria Math"/>
              </a:rPr>
              <a:t>Exhaustive search over non-negative weights for optimal path</a:t>
            </a:r>
            <a:endParaRPr sz="1800" dirty="0">
              <a:solidFill>
                <a:schemeClr val="dk2"/>
              </a:solidFill>
              <a:latin typeface="Cambria Math"/>
              <a:ea typeface="Cambria Math"/>
              <a:cs typeface="Cambria Math"/>
              <a:sym typeface="Cambria Math"/>
            </a:endParaRPr>
          </a:p>
          <a:p>
            <a:pPr marL="457200" lvl="0" indent="-342900" algn="l" rtl="0">
              <a:lnSpc>
                <a:spcPct val="100000"/>
              </a:lnSpc>
              <a:spcBef>
                <a:spcPts val="0"/>
              </a:spcBef>
              <a:spcAft>
                <a:spcPts val="0"/>
              </a:spcAft>
              <a:buClr>
                <a:schemeClr val="dk2"/>
              </a:buClr>
              <a:buSzPct val="56000"/>
              <a:buFont typeface="Cambria Math"/>
              <a:buChar char="●"/>
            </a:pPr>
            <a:r>
              <a:rPr lang="en-GB" sz="1800" dirty="0">
                <a:solidFill>
                  <a:schemeClr val="dk2"/>
                </a:solidFill>
                <a:latin typeface="Cambria Math"/>
                <a:ea typeface="Cambria Math"/>
                <a:cs typeface="Cambria Math"/>
                <a:sym typeface="Cambria Math"/>
              </a:rPr>
              <a:t>A* adds admissible great-circle heuristic: narrows search while optimising distance</a:t>
            </a:r>
            <a:endParaRPr sz="1800" dirty="0">
              <a:solidFill>
                <a:schemeClr val="dk2"/>
              </a:solidFill>
              <a:latin typeface="Cambria Math"/>
              <a:ea typeface="Cambria Math"/>
              <a:cs typeface="Cambria Math"/>
              <a:sym typeface="Cambria Math"/>
            </a:endParaRPr>
          </a:p>
          <a:p>
            <a:pPr marL="0" lvl="0" indent="0" algn="l" rtl="0">
              <a:spcBef>
                <a:spcPts val="400"/>
              </a:spcBef>
              <a:spcAft>
                <a:spcPts val="0"/>
              </a:spcAft>
              <a:buNone/>
            </a:pPr>
            <a:endParaRPr sz="1800" dirty="0">
              <a:solidFill>
                <a:schemeClr val="dk2"/>
              </a:solidFill>
            </a:endParaRPr>
          </a:p>
        </p:txBody>
      </p:sp>
      <p:sp>
        <p:nvSpPr>
          <p:cNvPr id="128" name="Google Shape;128;p6"/>
          <p:cNvSpPr txBox="1"/>
          <p:nvPr/>
        </p:nvSpPr>
        <p:spPr>
          <a:xfrm>
            <a:off x="4796400" y="1012175"/>
            <a:ext cx="4347600" cy="105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500" b="1" dirty="0">
                <a:solidFill>
                  <a:schemeClr val="accent2"/>
                </a:solidFill>
              </a:rPr>
              <a:t>Particle Swarm</a:t>
            </a:r>
            <a:endParaRPr sz="1500" b="1" dirty="0">
              <a:solidFill>
                <a:schemeClr val="accent2"/>
              </a:solidFill>
            </a:endParaRPr>
          </a:p>
          <a:p>
            <a:pPr marL="0" lvl="0" indent="0" algn="l" rtl="0">
              <a:lnSpc>
                <a:spcPct val="115000"/>
              </a:lnSpc>
              <a:spcBef>
                <a:spcPts val="0"/>
              </a:spcBef>
              <a:spcAft>
                <a:spcPts val="0"/>
              </a:spcAft>
              <a:buClr>
                <a:schemeClr val="dk1"/>
              </a:buClr>
              <a:buSzPts val="1100"/>
              <a:buFont typeface="Arial"/>
              <a:buNone/>
            </a:pPr>
            <a:r>
              <a:rPr lang="en-GB" sz="1450" b="1" dirty="0">
                <a:solidFill>
                  <a:srgbClr val="0097A7"/>
                </a:solidFill>
              </a:rPr>
              <a:t>Lightweight &amp; real-time friendly</a:t>
            </a:r>
            <a:endParaRPr sz="1450" b="1" dirty="0">
              <a:solidFill>
                <a:srgbClr val="0097A7"/>
              </a:solidFill>
            </a:endParaRPr>
          </a:p>
          <a:p>
            <a:pPr marL="457200" lvl="0" indent="-342900" algn="l" rtl="0">
              <a:lnSpc>
                <a:spcPct val="100000"/>
              </a:lnSpc>
              <a:spcBef>
                <a:spcPts val="0"/>
              </a:spcBef>
              <a:spcAft>
                <a:spcPts val="0"/>
              </a:spcAft>
              <a:buClr>
                <a:schemeClr val="dk2"/>
              </a:buClr>
              <a:buSzPct val="56000"/>
              <a:buFont typeface="Cambria Math"/>
              <a:buChar char="●"/>
            </a:pPr>
            <a:r>
              <a:rPr lang="en-GB" sz="1800" dirty="0">
                <a:solidFill>
                  <a:schemeClr val="dk2"/>
                </a:solidFill>
                <a:latin typeface="Cambria Math"/>
                <a:ea typeface="Cambria Math"/>
                <a:cs typeface="Cambria Math"/>
                <a:sym typeface="Cambria Math"/>
              </a:rPr>
              <a:t>Just needs simple fitness signal, not rich prior network model</a:t>
            </a:r>
            <a:endParaRPr sz="1800" dirty="0">
              <a:solidFill>
                <a:schemeClr val="dk2"/>
              </a:solidFill>
              <a:latin typeface="Cambria Math"/>
              <a:ea typeface="Cambria Math"/>
              <a:cs typeface="Cambria Math"/>
              <a:sym typeface="Cambria Math"/>
            </a:endParaRPr>
          </a:p>
          <a:p>
            <a:pPr marL="457200" lvl="0" indent="-342900" algn="l" rtl="0">
              <a:lnSpc>
                <a:spcPct val="100000"/>
              </a:lnSpc>
              <a:spcBef>
                <a:spcPts val="0"/>
              </a:spcBef>
              <a:spcAft>
                <a:spcPts val="0"/>
              </a:spcAft>
              <a:buClr>
                <a:schemeClr val="dk2"/>
              </a:buClr>
              <a:buSzPct val="56000"/>
              <a:buFont typeface="Cambria Math"/>
              <a:buChar char="●"/>
            </a:pPr>
            <a:r>
              <a:rPr lang="en-GB" sz="1800" dirty="0">
                <a:solidFill>
                  <a:schemeClr val="dk2"/>
                </a:solidFill>
                <a:latin typeface="Cambria Math"/>
                <a:ea typeface="Cambria Math"/>
                <a:cs typeface="Cambria Math"/>
                <a:sym typeface="Cambria Math"/>
              </a:rPr>
              <a:t>Velocity =&gt; </a:t>
            </a:r>
            <a:r>
              <a:rPr lang="en-GB" sz="1800" i="1" dirty="0">
                <a:solidFill>
                  <a:schemeClr val="dk2"/>
                </a:solidFill>
                <a:latin typeface="Cambria Math"/>
                <a:ea typeface="Cambria Math"/>
                <a:cs typeface="Cambria Math"/>
                <a:sym typeface="Cambria Math"/>
              </a:rPr>
              <a:t>mutation </a:t>
            </a:r>
            <a:r>
              <a:rPr lang="en-GB" sz="1800" dirty="0">
                <a:solidFill>
                  <a:schemeClr val="dk2"/>
                </a:solidFill>
                <a:latin typeface="Cambria Math"/>
                <a:ea typeface="Cambria Math"/>
                <a:cs typeface="Cambria Math"/>
                <a:sym typeface="Cambria Math"/>
              </a:rPr>
              <a:t>(splice/swap) for discrete street graphs</a:t>
            </a:r>
            <a:endParaRPr sz="1800" dirty="0">
              <a:solidFill>
                <a:schemeClr val="dk2"/>
              </a:solidFill>
              <a:latin typeface="Cambria Math"/>
              <a:ea typeface="Cambria Math"/>
              <a:cs typeface="Cambria Math"/>
              <a:sym typeface="Cambria Math"/>
            </a:endParaRPr>
          </a:p>
          <a:p>
            <a:pPr marL="0" lvl="0" indent="0" algn="l" rtl="0">
              <a:spcBef>
                <a:spcPts val="400"/>
              </a:spcBef>
              <a:spcAft>
                <a:spcPts val="0"/>
              </a:spcAft>
              <a:buNone/>
            </a:pPr>
            <a:endParaRPr sz="1500" b="1" dirty="0">
              <a:solidFill>
                <a:schemeClr val="accent2"/>
              </a:solidFill>
            </a:endParaRPr>
          </a:p>
        </p:txBody>
      </p:sp>
      <p:sp>
        <p:nvSpPr>
          <p:cNvPr id="129" name="Google Shape;129;p6"/>
          <p:cNvSpPr txBox="1"/>
          <p:nvPr/>
        </p:nvSpPr>
        <p:spPr>
          <a:xfrm>
            <a:off x="0" y="2728088"/>
            <a:ext cx="4526924" cy="114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500" b="1" dirty="0">
                <a:solidFill>
                  <a:schemeClr val="accent2"/>
                </a:solidFill>
              </a:rPr>
              <a:t>Ant Colony</a:t>
            </a:r>
            <a:endParaRPr sz="1500" b="1" dirty="0">
              <a:solidFill>
                <a:schemeClr val="accent2"/>
              </a:solidFill>
            </a:endParaRPr>
          </a:p>
          <a:p>
            <a:pPr marL="0" lvl="0" indent="0" algn="l" rtl="0">
              <a:lnSpc>
                <a:spcPct val="115000"/>
              </a:lnSpc>
              <a:spcBef>
                <a:spcPts val="0"/>
              </a:spcBef>
              <a:spcAft>
                <a:spcPts val="0"/>
              </a:spcAft>
              <a:buClr>
                <a:schemeClr val="dk1"/>
              </a:buClr>
              <a:buSzPts val="1100"/>
              <a:buFont typeface="Arial"/>
              <a:buNone/>
            </a:pPr>
            <a:r>
              <a:rPr lang="en-GB" sz="1450" b="1" dirty="0">
                <a:solidFill>
                  <a:srgbClr val="E8834A"/>
                </a:solidFill>
              </a:rPr>
              <a:t>Learns through reinforcement</a:t>
            </a:r>
            <a:endParaRPr sz="1450" b="1" dirty="0">
              <a:solidFill>
                <a:srgbClr val="E8834A"/>
              </a:solidFill>
            </a:endParaRPr>
          </a:p>
          <a:p>
            <a:pPr marL="457200" lvl="0" indent="-292100" algn="l" rtl="0">
              <a:lnSpc>
                <a:spcPct val="115000"/>
              </a:lnSpc>
              <a:spcBef>
                <a:spcPts val="0"/>
              </a:spcBef>
              <a:spcAft>
                <a:spcPts val="0"/>
              </a:spcAft>
              <a:buClr>
                <a:schemeClr val="dk2"/>
              </a:buClr>
              <a:buSzPts val="1000"/>
              <a:buFont typeface="Cambria Math"/>
              <a:buChar char="●"/>
            </a:pPr>
            <a:r>
              <a:rPr lang="en-GB" sz="1800" dirty="0">
                <a:solidFill>
                  <a:schemeClr val="dk2"/>
                </a:solidFill>
                <a:latin typeface="Cambria Math"/>
                <a:ea typeface="Cambria Math"/>
                <a:cs typeface="Cambria Math"/>
                <a:sym typeface="Cambria Math"/>
              </a:rPr>
              <a:t>Pheromone trails for experience, partly offsetting thin accident data</a:t>
            </a:r>
            <a:endParaRPr sz="1800" dirty="0">
              <a:solidFill>
                <a:schemeClr val="dk2"/>
              </a:solidFill>
              <a:latin typeface="Cambria Math"/>
              <a:ea typeface="Cambria Math"/>
              <a:cs typeface="Cambria Math"/>
              <a:sym typeface="Cambria Math"/>
            </a:endParaRPr>
          </a:p>
          <a:p>
            <a:pPr marL="457200" lvl="0" indent="-292100" algn="l" rtl="0">
              <a:lnSpc>
                <a:spcPct val="115000"/>
              </a:lnSpc>
              <a:spcBef>
                <a:spcPts val="0"/>
              </a:spcBef>
              <a:spcAft>
                <a:spcPts val="0"/>
              </a:spcAft>
              <a:buClr>
                <a:schemeClr val="dk2"/>
              </a:buClr>
              <a:buSzPts val="1000"/>
              <a:buFont typeface="Cambria Math"/>
              <a:buChar char="●"/>
            </a:pPr>
            <a:r>
              <a:rPr lang="en-GB" sz="1800" dirty="0">
                <a:solidFill>
                  <a:schemeClr val="dk2"/>
                </a:solidFill>
                <a:latin typeface="Cambria Math"/>
                <a:ea typeface="Cambria Math"/>
                <a:cs typeface="Cambria Math"/>
                <a:sym typeface="Cambria Math"/>
              </a:rPr>
              <a:t>Reliable trails need enough iterations, for when speed matters most</a:t>
            </a:r>
            <a:endParaRPr sz="1800" dirty="0">
              <a:solidFill>
                <a:schemeClr val="dk2"/>
              </a:solidFill>
              <a:latin typeface="Cambria Math"/>
              <a:ea typeface="Cambria Math"/>
              <a:cs typeface="Cambria Math"/>
              <a:sym typeface="Cambria Math"/>
            </a:endParaRPr>
          </a:p>
          <a:p>
            <a:pPr marL="0" lvl="0" indent="0" algn="l" rtl="0">
              <a:spcBef>
                <a:spcPts val="400"/>
              </a:spcBef>
              <a:spcAft>
                <a:spcPts val="0"/>
              </a:spcAft>
              <a:buNone/>
            </a:pPr>
            <a:endParaRPr sz="1500" b="1" dirty="0">
              <a:solidFill>
                <a:schemeClr val="accent2"/>
              </a:solidFill>
            </a:endParaRPr>
          </a:p>
        </p:txBody>
      </p:sp>
      <p:sp>
        <p:nvSpPr>
          <p:cNvPr id="130" name="Google Shape;130;p6"/>
          <p:cNvSpPr txBox="1"/>
          <p:nvPr/>
        </p:nvSpPr>
        <p:spPr>
          <a:xfrm>
            <a:off x="4752864" y="2728088"/>
            <a:ext cx="4391136" cy="1143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500" b="1" dirty="0">
                <a:solidFill>
                  <a:schemeClr val="accent2"/>
                </a:solidFill>
              </a:rPr>
              <a:t>Wolf Pack</a:t>
            </a:r>
            <a:endParaRPr sz="1500" b="1" dirty="0">
              <a:solidFill>
                <a:schemeClr val="accent2"/>
              </a:solidFill>
            </a:endParaRPr>
          </a:p>
          <a:p>
            <a:pPr marL="0" lvl="0" indent="0" algn="l" rtl="0">
              <a:lnSpc>
                <a:spcPct val="115000"/>
              </a:lnSpc>
              <a:spcBef>
                <a:spcPts val="0"/>
              </a:spcBef>
              <a:spcAft>
                <a:spcPts val="0"/>
              </a:spcAft>
              <a:buClr>
                <a:schemeClr val="dk1"/>
              </a:buClr>
              <a:buSzPts val="1100"/>
              <a:buFont typeface="Arial"/>
              <a:buNone/>
            </a:pPr>
            <a:r>
              <a:rPr lang="en-GB" sz="1450" b="1" dirty="0">
                <a:solidFill>
                  <a:srgbClr val="78909C"/>
                </a:solidFill>
              </a:rPr>
              <a:t>Built for changing conditions</a:t>
            </a:r>
            <a:endParaRPr sz="1450" b="1" dirty="0">
              <a:solidFill>
                <a:srgbClr val="78909C"/>
              </a:solidFill>
            </a:endParaRPr>
          </a:p>
          <a:p>
            <a:pPr marL="457200" lvl="0" indent="-292100" algn="l" rtl="0">
              <a:lnSpc>
                <a:spcPct val="115000"/>
              </a:lnSpc>
              <a:spcBef>
                <a:spcPts val="0"/>
              </a:spcBef>
              <a:spcAft>
                <a:spcPts val="0"/>
              </a:spcAft>
              <a:buClr>
                <a:schemeClr val="dk2"/>
              </a:buClr>
              <a:buSzPts val="1000"/>
              <a:buFont typeface="Cambria Math"/>
              <a:buChar char="●"/>
            </a:pPr>
            <a:r>
              <a:rPr lang="en-GB" sz="1800" dirty="0">
                <a:solidFill>
                  <a:schemeClr val="dk2"/>
                </a:solidFill>
                <a:latin typeface="Cambria Math"/>
                <a:ea typeface="Cambria Math"/>
                <a:cs typeface="Cambria Math"/>
                <a:sym typeface="Cambria Math"/>
              </a:rPr>
              <a:t>Wandering, calling &amp; besieging phases target robustness as data shifts</a:t>
            </a:r>
            <a:endParaRPr sz="1800" dirty="0">
              <a:solidFill>
                <a:schemeClr val="dk2"/>
              </a:solidFill>
              <a:latin typeface="Cambria Math"/>
              <a:ea typeface="Cambria Math"/>
              <a:cs typeface="Cambria Math"/>
              <a:sym typeface="Cambria Math"/>
            </a:endParaRPr>
          </a:p>
          <a:p>
            <a:pPr marL="457200" lvl="0" indent="-292100" algn="l" rtl="0">
              <a:lnSpc>
                <a:spcPct val="115000"/>
              </a:lnSpc>
              <a:spcBef>
                <a:spcPts val="0"/>
              </a:spcBef>
              <a:spcAft>
                <a:spcPts val="0"/>
              </a:spcAft>
              <a:buClr>
                <a:schemeClr val="dk2"/>
              </a:buClr>
              <a:buSzPts val="1000"/>
              <a:buFont typeface="Cambria Math"/>
              <a:buChar char="●"/>
            </a:pPr>
            <a:r>
              <a:rPr lang="en-GB" sz="1800" dirty="0">
                <a:solidFill>
                  <a:schemeClr val="dk2"/>
                </a:solidFill>
                <a:latin typeface="Cambria Math"/>
                <a:ea typeface="Cambria Math"/>
                <a:cs typeface="Cambria Math"/>
                <a:sym typeface="Cambria Math"/>
              </a:rPr>
              <a:t>Elite retention (top 20%) and leader replacement prevent stagnation</a:t>
            </a:r>
            <a:endParaRPr sz="1800" dirty="0">
              <a:solidFill>
                <a:schemeClr val="dk2"/>
              </a:solidFill>
              <a:latin typeface="Cambria Math"/>
              <a:ea typeface="Cambria Math"/>
              <a:cs typeface="Cambria Math"/>
              <a:sym typeface="Cambria Math"/>
            </a:endParaRPr>
          </a:p>
          <a:p>
            <a:pPr marL="0" lvl="0" indent="0" algn="l" rtl="0">
              <a:spcBef>
                <a:spcPts val="400"/>
              </a:spcBef>
              <a:spcAft>
                <a:spcPts val="0"/>
              </a:spcAft>
              <a:buNone/>
            </a:pPr>
            <a:endParaRPr sz="1500" b="1" dirty="0">
              <a:solidFill>
                <a:schemeClr val="accent2"/>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7"/>
                                        </p:tgtEl>
                                        <p:attrNameLst>
                                          <p:attrName>style.visibility</p:attrName>
                                        </p:attrNameLst>
                                      </p:cBhvr>
                                      <p:to>
                                        <p:strVal val="visible"/>
                                      </p:to>
                                    </p:set>
                                    <p:animEffect transition="in" filter="fade">
                                      <p:cBhvr>
                                        <p:cTn id="15" dur="500"/>
                                        <p:tgtEl>
                                          <p:spTgt spid="12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8"/>
                                        </p:tgtEl>
                                        <p:attrNameLst>
                                          <p:attrName>style.visibility</p:attrName>
                                        </p:attrNameLst>
                                      </p:cBhvr>
                                      <p:to>
                                        <p:strVal val="visible"/>
                                      </p:to>
                                    </p:set>
                                    <p:animEffect transition="in" filter="fade">
                                      <p:cBhvr>
                                        <p:cTn id="20" dur="500"/>
                                        <p:tgtEl>
                                          <p:spTgt spid="1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9"/>
                                        </p:tgtEl>
                                        <p:attrNameLst>
                                          <p:attrName>style.visibility</p:attrName>
                                        </p:attrNameLst>
                                      </p:cBhvr>
                                      <p:to>
                                        <p:strVal val="visible"/>
                                      </p:to>
                                    </p:set>
                                    <p:animEffect transition="in" filter="fade">
                                      <p:cBhvr>
                                        <p:cTn id="25" dur="500"/>
                                        <p:tgtEl>
                                          <p:spTgt spid="12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0">
                                            <p:txEl>
                                              <p:pRg st="0" end="0"/>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30">
                                            <p:txEl>
                                              <p:pRg st="1" end="1"/>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30">
                                            <p:txEl>
                                              <p:pRg st="2" end="2"/>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p:bldP spid="127" grpId="0"/>
      <p:bldP spid="128" grpId="0"/>
      <p:bldP spid="129" grpId="0"/>
      <p:bldP spid="130"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7"/>
          <p:cNvSpPr txBox="1">
            <a:spLocks noGrp="1"/>
          </p:cNvSpPr>
          <p:nvPr>
            <p:ph type="title"/>
          </p:nvPr>
        </p:nvSpPr>
        <p:spPr>
          <a:xfrm>
            <a:off x="0" y="0"/>
            <a:ext cx="9144000" cy="471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sz="2811" dirty="0">
                <a:solidFill>
                  <a:srgbClr val="0000FF"/>
                </a:solidFill>
                <a:latin typeface="Arial" panose="020B0604020202020204" pitchFamily="34" charset="0"/>
                <a:ea typeface="Cambria Math"/>
                <a:cs typeface="Arial" panose="020B0604020202020204" pitchFamily="34" charset="0"/>
                <a:sym typeface="Cambria Math"/>
              </a:rPr>
              <a:t>Results</a:t>
            </a:r>
            <a:endParaRPr sz="2811" dirty="0">
              <a:solidFill>
                <a:srgbClr val="0000FF"/>
              </a:solidFill>
              <a:latin typeface="Arial" panose="020B0604020202020204" pitchFamily="34" charset="0"/>
              <a:ea typeface="Cambria Math"/>
              <a:cs typeface="Arial" panose="020B0604020202020204" pitchFamily="34" charset="0"/>
              <a:sym typeface="Cambria Math"/>
            </a:endParaRPr>
          </a:p>
        </p:txBody>
      </p:sp>
      <p:graphicFrame>
        <p:nvGraphicFramePr>
          <p:cNvPr id="137" name="Google Shape;137;p7"/>
          <p:cNvGraphicFramePr/>
          <p:nvPr>
            <p:extLst>
              <p:ext uri="{D42A27DB-BD31-4B8C-83A1-F6EECF244321}">
                <p14:modId xmlns:p14="http://schemas.microsoft.com/office/powerpoint/2010/main" val="347496880"/>
              </p:ext>
            </p:extLst>
          </p:nvPr>
        </p:nvGraphicFramePr>
        <p:xfrm>
          <a:off x="0" y="689021"/>
          <a:ext cx="9143975" cy="4454479"/>
        </p:xfrm>
        <a:graphic>
          <a:graphicData uri="http://schemas.openxmlformats.org/drawingml/2006/table">
            <a:tbl>
              <a:tblPr>
                <a:noFill/>
                <a:tableStyleId>{F4DB1365-DCC6-40C2-8BA3-9625AF4A32AF}</a:tableStyleId>
              </a:tblPr>
              <a:tblGrid>
                <a:gridCol w="1094704">
                  <a:extLst>
                    <a:ext uri="{9D8B030D-6E8A-4147-A177-3AD203B41FA5}">
                      <a16:colId xmlns:a16="http://schemas.microsoft.com/office/drawing/2014/main" val="20000"/>
                    </a:ext>
                  </a:extLst>
                </a:gridCol>
                <a:gridCol w="1266471">
                  <a:extLst>
                    <a:ext uri="{9D8B030D-6E8A-4147-A177-3AD203B41FA5}">
                      <a16:colId xmlns:a16="http://schemas.microsoft.com/office/drawing/2014/main" val="20001"/>
                    </a:ext>
                  </a:extLst>
                </a:gridCol>
                <a:gridCol w="1864725">
                  <a:extLst>
                    <a:ext uri="{9D8B030D-6E8A-4147-A177-3AD203B41FA5}">
                      <a16:colId xmlns:a16="http://schemas.microsoft.com/office/drawing/2014/main" val="20002"/>
                    </a:ext>
                  </a:extLst>
                </a:gridCol>
                <a:gridCol w="2203675">
                  <a:extLst>
                    <a:ext uri="{9D8B030D-6E8A-4147-A177-3AD203B41FA5}">
                      <a16:colId xmlns:a16="http://schemas.microsoft.com/office/drawing/2014/main" val="20003"/>
                    </a:ext>
                  </a:extLst>
                </a:gridCol>
                <a:gridCol w="2714400">
                  <a:extLst>
                    <a:ext uri="{9D8B030D-6E8A-4147-A177-3AD203B41FA5}">
                      <a16:colId xmlns:a16="http://schemas.microsoft.com/office/drawing/2014/main" val="20004"/>
                    </a:ext>
                  </a:extLst>
                </a:gridCol>
              </a:tblGrid>
              <a:tr h="1220984">
                <a:tc>
                  <a:txBody>
                    <a:bodyPr/>
                    <a:lstStyle/>
                    <a:p>
                      <a:pPr marL="0" lvl="0" indent="0" algn="l" rtl="0">
                        <a:spcBef>
                          <a:spcPts val="0"/>
                        </a:spcBef>
                        <a:spcAft>
                          <a:spcPts val="0"/>
                        </a:spcAft>
                        <a:buNone/>
                      </a:pPr>
                      <a:r>
                        <a:rPr lang="en-GB" sz="1600">
                          <a:solidFill>
                            <a:schemeClr val="dk1"/>
                          </a:solidFill>
                        </a:rPr>
                        <a:t>Algorithm </a:t>
                      </a:r>
                      <a:endParaRPr sz="1600"/>
                    </a:p>
                  </a:txBody>
                  <a:tcPr marL="91425" marR="91425" marT="91425" marB="91425"/>
                </a:tc>
                <a:tc>
                  <a:txBody>
                    <a:bodyPr/>
                    <a:lstStyle/>
                    <a:p>
                      <a:pPr marL="0" lvl="0" indent="0" algn="l" rtl="0">
                        <a:spcBef>
                          <a:spcPts val="0"/>
                        </a:spcBef>
                        <a:spcAft>
                          <a:spcPts val="0"/>
                        </a:spcAft>
                        <a:buNone/>
                      </a:pPr>
                      <a:r>
                        <a:rPr lang="en-GB" sz="1600" dirty="0" err="1">
                          <a:solidFill>
                            <a:schemeClr val="dk1"/>
                          </a:solidFill>
                        </a:rPr>
                        <a:t>Avg</a:t>
                      </a:r>
                      <a:r>
                        <a:rPr lang="en-GB" sz="1600" dirty="0">
                          <a:solidFill>
                            <a:schemeClr val="dk1"/>
                          </a:solidFill>
                        </a:rPr>
                        <a:t> Safety Gain (%) (NRT/RT) </a:t>
                      </a:r>
                      <a:endParaRPr sz="1600" dirty="0"/>
                    </a:p>
                  </a:txBody>
                  <a:tcPr marL="91425" marR="91425" marT="91425" marB="91425">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dirty="0" err="1">
                          <a:solidFill>
                            <a:schemeClr val="dk1"/>
                          </a:solidFill>
                        </a:rPr>
                        <a:t>Avg</a:t>
                      </a:r>
                      <a:r>
                        <a:rPr lang="en-GB" sz="1600" dirty="0">
                          <a:solidFill>
                            <a:schemeClr val="dk1"/>
                          </a:solidFill>
                        </a:rPr>
                        <a:t> Risk Reduction (%) (NRT/RT) </a:t>
                      </a:r>
                      <a:endParaRPr sz="1600" dirty="0"/>
                    </a:p>
                  </a:txBody>
                  <a:tcPr marL="91425" marR="91425" marT="91425" marB="91425"/>
                </a:tc>
                <a:tc>
                  <a:txBody>
                    <a:bodyPr/>
                    <a:lstStyle/>
                    <a:p>
                      <a:pPr marL="0" lvl="0" indent="0" algn="l" rtl="0">
                        <a:spcBef>
                          <a:spcPts val="0"/>
                        </a:spcBef>
                        <a:spcAft>
                          <a:spcPts val="0"/>
                        </a:spcAft>
                        <a:buNone/>
                      </a:pPr>
                      <a:r>
                        <a:rPr lang="en-GB" sz="1600">
                          <a:solidFill>
                            <a:schemeClr val="dk1"/>
                          </a:solidFill>
                        </a:rPr>
                        <a:t>Avg Accuracy (%) (NRT/RT) </a:t>
                      </a:r>
                      <a:endParaRPr sz="1600"/>
                    </a:p>
                  </a:txBody>
                  <a:tcPr marL="91425" marR="91425" marT="91425" marB="91425">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600">
                          <a:solidFill>
                            <a:schemeClr val="dk1"/>
                          </a:solidFill>
                        </a:rPr>
                        <a:t>Avg Runtime (s) [Shortest/Safest] (NRT/RT) </a:t>
                      </a:r>
                      <a:endParaRPr sz="1600"/>
                    </a:p>
                  </a:txBody>
                  <a:tcPr marL="91425" marR="91425" marT="91425" marB="91425">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3121">
                <a:tc>
                  <a:txBody>
                    <a:bodyPr/>
                    <a:lstStyle/>
                    <a:p>
                      <a:pPr marL="0" lvl="0" indent="0" algn="l" rtl="0">
                        <a:spcBef>
                          <a:spcPts val="0"/>
                        </a:spcBef>
                        <a:spcAft>
                          <a:spcPts val="0"/>
                        </a:spcAft>
                        <a:buNone/>
                      </a:pPr>
                      <a:r>
                        <a:rPr lang="en-GB" sz="1600">
                          <a:solidFill>
                            <a:schemeClr val="accent1"/>
                          </a:solidFill>
                        </a:rPr>
                        <a:t>Dijkstra </a:t>
                      </a:r>
                      <a:endParaRPr sz="1600">
                        <a:solidFill>
                          <a:schemeClr val="accent1"/>
                        </a:solidFill>
                      </a:endParaRPr>
                    </a:p>
                  </a:txBody>
                  <a:tcPr marL="91425" marR="91425" marT="91425" marB="91425">
                    <a:lnR w="9525" cap="flat" cmpd="sng">
                      <a:solidFill>
                        <a:srgbClr val="000000"/>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en-GB" sz="1600">
                          <a:solidFill>
                            <a:schemeClr val="accent1"/>
                          </a:solidFill>
                        </a:rPr>
                        <a:t>61.51/61.61</a:t>
                      </a:r>
                      <a:endParaRPr sz="1600">
                        <a:solidFill>
                          <a:schemeClr val="accent1"/>
                        </a:solidFill>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dirty="0">
                          <a:solidFill>
                            <a:schemeClr val="accent1"/>
                          </a:solidFill>
                        </a:rPr>
                        <a:t>49.11/50 </a:t>
                      </a:r>
                      <a:endParaRPr sz="1600" dirty="0">
                        <a:solidFill>
                          <a:schemeClr val="accent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en-GB" sz="1600" dirty="0">
                          <a:solidFill>
                            <a:schemeClr val="accent1"/>
                          </a:solidFill>
                        </a:rPr>
                        <a:t>95.13/95.38</a:t>
                      </a:r>
                      <a:endParaRPr sz="1600" dirty="0">
                        <a:solidFill>
                          <a:schemeClr val="accent1"/>
                        </a:solidFill>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600" dirty="0">
                          <a:solidFill>
                            <a:schemeClr val="accent1"/>
                          </a:solidFill>
                        </a:rPr>
                        <a:t>0.1/0.29 / 0.1/0.16</a:t>
                      </a:r>
                      <a:endParaRPr sz="1600" dirty="0">
                        <a:solidFill>
                          <a:schemeClr val="accent1"/>
                        </a:solidFill>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73121">
                <a:tc>
                  <a:txBody>
                    <a:bodyPr/>
                    <a:lstStyle/>
                    <a:p>
                      <a:pPr marL="0" lvl="0" indent="0" algn="l" rtl="0">
                        <a:spcBef>
                          <a:spcPts val="0"/>
                        </a:spcBef>
                        <a:spcAft>
                          <a:spcPts val="0"/>
                        </a:spcAft>
                        <a:buNone/>
                      </a:pPr>
                      <a:r>
                        <a:rPr lang="en-GB" sz="1600">
                          <a:solidFill>
                            <a:schemeClr val="accent1"/>
                          </a:solidFill>
                        </a:rPr>
                        <a:t>A* </a:t>
                      </a:r>
                      <a:endParaRPr sz="1600">
                        <a:solidFill>
                          <a:schemeClr val="accent1"/>
                        </a:solidFill>
                      </a:endParaRPr>
                    </a:p>
                  </a:txBody>
                  <a:tcPr marL="91425" marR="91425" marT="91425" marB="91425">
                    <a:lnR w="9525" cap="flat" cmpd="sng">
                      <a:solidFill>
                        <a:srgbClr val="000000"/>
                      </a:solidFill>
                      <a:prstDash val="solid"/>
                      <a:round/>
                      <a:headEnd type="none" w="sm" len="sm"/>
                      <a:tailEnd type="none" w="sm" len="sm"/>
                    </a:lnR>
                  </a:tcPr>
                </a:tc>
                <a:tc>
                  <a:txBody>
                    <a:bodyPr/>
                    <a:lstStyle/>
                    <a:p>
                      <a:pPr marL="0" lvl="0" indent="0" algn="l" rtl="0">
                        <a:lnSpc>
                          <a:spcPct val="115000"/>
                        </a:lnSpc>
                        <a:spcBef>
                          <a:spcPts val="0"/>
                        </a:spcBef>
                        <a:spcAft>
                          <a:spcPts val="0"/>
                        </a:spcAft>
                        <a:buNone/>
                      </a:pPr>
                      <a:r>
                        <a:rPr lang="en-GB" sz="1600">
                          <a:solidFill>
                            <a:schemeClr val="accent1"/>
                          </a:solidFill>
                        </a:rPr>
                        <a:t>11.29/10.77</a:t>
                      </a:r>
                      <a:endParaRPr sz="1600">
                        <a:solidFill>
                          <a:schemeClr val="accent1"/>
                        </a:solidFill>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dirty="0">
                          <a:solidFill>
                            <a:schemeClr val="accent1"/>
                          </a:solidFill>
                        </a:rPr>
                        <a:t>-7.98/-7.09 </a:t>
                      </a:r>
                      <a:endParaRPr sz="1600" dirty="0">
                        <a:solidFill>
                          <a:schemeClr val="accent1"/>
                        </a:solidFill>
                      </a:endParaRPr>
                    </a:p>
                  </a:txBody>
                  <a:tcPr marL="91425" marR="91425" marT="91425" marB="91425">
                    <a:lnL w="9525" cap="flat" cmpd="sng">
                      <a:solidFill>
                        <a:srgbClr val="000000"/>
                      </a:solidFill>
                      <a:prstDash val="solid"/>
                      <a:round/>
                      <a:headEnd type="none" w="sm" len="sm"/>
                      <a:tailEnd type="none" w="sm" len="sm"/>
                    </a:lnL>
                  </a:tcPr>
                </a:tc>
                <a:tc>
                  <a:txBody>
                    <a:bodyPr/>
                    <a:lstStyle/>
                    <a:p>
                      <a:pPr marL="0" lvl="0" indent="0" algn="l" rtl="0">
                        <a:spcBef>
                          <a:spcPts val="0"/>
                        </a:spcBef>
                        <a:spcAft>
                          <a:spcPts val="0"/>
                        </a:spcAft>
                        <a:buNone/>
                      </a:pPr>
                      <a:r>
                        <a:rPr lang="en-GB" sz="1600" dirty="0">
                          <a:solidFill>
                            <a:schemeClr val="accent1"/>
                          </a:solidFill>
                        </a:rPr>
                        <a:t>94/96 </a:t>
                      </a:r>
                      <a:endParaRPr sz="1600" dirty="0">
                        <a:solidFill>
                          <a:schemeClr val="accent1"/>
                        </a:solidFill>
                      </a:endParaRPr>
                    </a:p>
                  </a:txBody>
                  <a:tcPr marL="91425" marR="91425" marT="91425" marB="91425">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en-GB" sz="1600" dirty="0">
                          <a:solidFill>
                            <a:schemeClr val="accent1"/>
                          </a:solidFill>
                        </a:rPr>
                        <a:t>0.1/0.01 / 0.11/0.01</a:t>
                      </a:r>
                      <a:endParaRPr sz="1600" dirty="0">
                        <a:solidFill>
                          <a:schemeClr val="accent1"/>
                        </a:solidFill>
                      </a:endParaRPr>
                    </a:p>
                  </a:txBody>
                  <a:tcPr marL="63500" marR="63500" marT="63500" marB="635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95751">
                <a:tc>
                  <a:txBody>
                    <a:bodyPr/>
                    <a:lstStyle/>
                    <a:p>
                      <a:pPr marL="0" lvl="0" indent="0" algn="l" rtl="0">
                        <a:spcBef>
                          <a:spcPts val="0"/>
                        </a:spcBef>
                        <a:spcAft>
                          <a:spcPts val="0"/>
                        </a:spcAft>
                        <a:buNone/>
                      </a:pPr>
                      <a:r>
                        <a:rPr lang="en-GB" sz="1600">
                          <a:solidFill>
                            <a:srgbClr val="7030A0"/>
                          </a:solidFill>
                        </a:rPr>
                        <a:t>PSO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61.86/44.32 </a:t>
                      </a:r>
                      <a:endParaRPr sz="1600">
                        <a:solidFill>
                          <a:srgbClr val="7030A0"/>
                        </a:solidFill>
                      </a:endParaRPr>
                    </a:p>
                  </a:txBody>
                  <a:tcPr marL="91425" marR="91425" marT="91425" marB="91425">
                    <a:lnT w="9525"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r>
                        <a:rPr lang="en-GB" sz="1600" dirty="0">
                          <a:solidFill>
                            <a:srgbClr val="7030A0"/>
                          </a:solidFill>
                        </a:rPr>
                        <a:t>50/35.44 </a:t>
                      </a:r>
                      <a:endParaRPr sz="1600" dirty="0">
                        <a:solidFill>
                          <a:srgbClr val="7030A0"/>
                        </a:solidFill>
                      </a:endParaRPr>
                    </a:p>
                  </a:txBody>
                  <a:tcPr marL="91425" marR="91425" marT="91425" marB="91425"/>
                </a:tc>
                <a:tc>
                  <a:txBody>
                    <a:bodyPr/>
                    <a:lstStyle/>
                    <a:p>
                      <a:pPr marL="0" lvl="0" indent="0" algn="l" rtl="0">
                        <a:spcBef>
                          <a:spcPts val="0"/>
                        </a:spcBef>
                        <a:spcAft>
                          <a:spcPts val="0"/>
                        </a:spcAft>
                        <a:buNone/>
                      </a:pPr>
                      <a:r>
                        <a:rPr lang="en-GB" sz="1600" dirty="0">
                          <a:solidFill>
                            <a:srgbClr val="7030A0"/>
                          </a:solidFill>
                        </a:rPr>
                        <a:t>95.38/95.13 </a:t>
                      </a:r>
                      <a:endParaRPr sz="1600" dirty="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0.19/0.18 / 0.13/0.15 </a:t>
                      </a:r>
                      <a:endParaRPr sz="1600">
                        <a:solidFill>
                          <a:srgbClr val="7030A0"/>
                        </a:solidFill>
                      </a:endParaRPr>
                    </a:p>
                  </a:txBody>
                  <a:tcPr marL="91425" marR="91425" marT="91425" marB="91425">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3"/>
                  </a:ext>
                </a:extLst>
              </a:tr>
              <a:tr h="695751">
                <a:tc>
                  <a:txBody>
                    <a:bodyPr/>
                    <a:lstStyle/>
                    <a:p>
                      <a:pPr marL="0" lvl="0" indent="0" algn="l" rtl="0">
                        <a:spcBef>
                          <a:spcPts val="0"/>
                        </a:spcBef>
                        <a:spcAft>
                          <a:spcPts val="0"/>
                        </a:spcAft>
                        <a:buNone/>
                      </a:pPr>
                      <a:r>
                        <a:rPr lang="en-GB" sz="1600">
                          <a:solidFill>
                            <a:srgbClr val="7030A0"/>
                          </a:solidFill>
                        </a:rPr>
                        <a:t>ACO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63.43/58.04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50/56.91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94.63/95.63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3.4/4.41 / 0.16/ 0.11 </a:t>
                      </a:r>
                      <a:endParaRPr sz="1600">
                        <a:solidFill>
                          <a:srgbClr val="7030A0"/>
                        </a:solidFill>
                      </a:endParaRPr>
                    </a:p>
                  </a:txBody>
                  <a:tcPr marL="91425" marR="91425" marT="91425" marB="91425"/>
                </a:tc>
                <a:extLst>
                  <a:ext uri="{0D108BD9-81ED-4DB2-BD59-A6C34878D82A}">
                    <a16:rowId xmlns:a16="http://schemas.microsoft.com/office/drawing/2014/main" val="10004"/>
                  </a:ext>
                </a:extLst>
              </a:tr>
              <a:tr h="695751">
                <a:tc>
                  <a:txBody>
                    <a:bodyPr/>
                    <a:lstStyle/>
                    <a:p>
                      <a:pPr marL="0" lvl="0" indent="0" algn="l" rtl="0">
                        <a:spcBef>
                          <a:spcPts val="0"/>
                        </a:spcBef>
                        <a:spcAft>
                          <a:spcPts val="0"/>
                        </a:spcAft>
                        <a:buNone/>
                      </a:pPr>
                      <a:r>
                        <a:rPr lang="en-GB" sz="1600" dirty="0">
                          <a:solidFill>
                            <a:srgbClr val="7030A0"/>
                          </a:solidFill>
                        </a:rPr>
                        <a:t>WPO </a:t>
                      </a:r>
                      <a:endParaRPr sz="1600" dirty="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61.98/62.3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dirty="0">
                          <a:solidFill>
                            <a:srgbClr val="7030A0"/>
                          </a:solidFill>
                        </a:rPr>
                        <a:t>50/50 </a:t>
                      </a:r>
                      <a:endParaRPr sz="1600" dirty="0">
                        <a:solidFill>
                          <a:srgbClr val="7030A0"/>
                        </a:solidFill>
                      </a:endParaRPr>
                    </a:p>
                  </a:txBody>
                  <a:tcPr marL="91425" marR="91425" marT="91425" marB="91425"/>
                </a:tc>
                <a:tc>
                  <a:txBody>
                    <a:bodyPr/>
                    <a:lstStyle/>
                    <a:p>
                      <a:pPr marL="0" lvl="0" indent="0" algn="l" rtl="0">
                        <a:spcBef>
                          <a:spcPts val="0"/>
                        </a:spcBef>
                        <a:spcAft>
                          <a:spcPts val="0"/>
                        </a:spcAft>
                        <a:buNone/>
                      </a:pPr>
                      <a:r>
                        <a:rPr lang="en-GB" sz="1600">
                          <a:solidFill>
                            <a:srgbClr val="7030A0"/>
                          </a:solidFill>
                        </a:rPr>
                        <a:t>95.75/95.75 </a:t>
                      </a:r>
                      <a:endParaRPr sz="1600">
                        <a:solidFill>
                          <a:srgbClr val="7030A0"/>
                        </a:solidFill>
                      </a:endParaRPr>
                    </a:p>
                  </a:txBody>
                  <a:tcPr marL="91425" marR="91425" marT="91425" marB="91425"/>
                </a:tc>
                <a:tc>
                  <a:txBody>
                    <a:bodyPr/>
                    <a:lstStyle/>
                    <a:p>
                      <a:pPr marL="0" lvl="0" indent="0" algn="l" rtl="0">
                        <a:spcBef>
                          <a:spcPts val="0"/>
                        </a:spcBef>
                        <a:spcAft>
                          <a:spcPts val="0"/>
                        </a:spcAft>
                        <a:buNone/>
                      </a:pPr>
                      <a:r>
                        <a:rPr lang="en-GB" sz="1600" dirty="0">
                          <a:solidFill>
                            <a:srgbClr val="7030A0"/>
                          </a:solidFill>
                        </a:rPr>
                        <a:t>10/6.4/ 7.58/ 9.04 </a:t>
                      </a:r>
                      <a:endParaRPr sz="1600" dirty="0">
                        <a:solidFill>
                          <a:srgbClr val="7030A0"/>
                        </a:solidFill>
                      </a:endParaRPr>
                    </a:p>
                  </a:txBody>
                  <a:tcPr marL="91425" marR="91425" marT="91425" marB="91425"/>
                </a:tc>
                <a:extLst>
                  <a:ext uri="{0D108BD9-81ED-4DB2-BD59-A6C34878D82A}">
                    <a16:rowId xmlns:a16="http://schemas.microsoft.com/office/drawing/2014/main" val="10005"/>
                  </a:ext>
                </a:extLst>
              </a:tr>
            </a:tbl>
          </a:graphicData>
        </a:graphic>
      </p:graphicFrame>
      <p:sp>
        <p:nvSpPr>
          <p:cNvPr id="2" name="Rectangle 1">
            <a:extLst>
              <a:ext uri="{FF2B5EF4-FFF2-40B4-BE49-F238E27FC236}">
                <a16:creationId xmlns:a16="http://schemas.microsoft.com/office/drawing/2014/main" id="{85BF5ACB-3E43-DC39-6928-7D076A23EB30}"/>
              </a:ext>
            </a:extLst>
          </p:cNvPr>
          <p:cNvSpPr/>
          <p:nvPr/>
        </p:nvSpPr>
        <p:spPr>
          <a:xfrm>
            <a:off x="1088265" y="685233"/>
            <a:ext cx="3142445" cy="4454479"/>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 name="Rectangle 3">
            <a:extLst>
              <a:ext uri="{FF2B5EF4-FFF2-40B4-BE49-F238E27FC236}">
                <a16:creationId xmlns:a16="http://schemas.microsoft.com/office/drawing/2014/main" id="{4E5F03AC-A892-D7C8-8A7F-5B94E39593AA}"/>
              </a:ext>
            </a:extLst>
          </p:cNvPr>
          <p:cNvSpPr/>
          <p:nvPr/>
        </p:nvSpPr>
        <p:spPr>
          <a:xfrm>
            <a:off x="4234990" y="689020"/>
            <a:ext cx="4909010" cy="4450691"/>
          </a:xfrm>
          <a:prstGeom prst="rect">
            <a:avLst/>
          </a:prstGeom>
          <a:noFill/>
          <a:ln>
            <a:solidFill>
              <a:srgbClr val="00B05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p:bldP spid="2"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E39802E9-CB46-D7CE-4B7F-64C3AE9A9F3A}"/>
            </a:ext>
          </a:extLst>
        </p:cNvPr>
        <p:cNvGrpSpPr/>
        <p:nvPr/>
      </p:nvGrpSpPr>
      <p:grpSpPr>
        <a:xfrm>
          <a:off x="0" y="0"/>
          <a:ext cx="0" cy="0"/>
          <a:chOff x="0" y="0"/>
          <a:chExt cx="0" cy="0"/>
        </a:xfrm>
      </p:grpSpPr>
      <p:sp>
        <p:nvSpPr>
          <p:cNvPr id="142" name="Google Shape;142;g3f612275319_1_0">
            <a:extLst>
              <a:ext uri="{FF2B5EF4-FFF2-40B4-BE49-F238E27FC236}">
                <a16:creationId xmlns:a16="http://schemas.microsoft.com/office/drawing/2014/main" id="{66B23BEB-CCE9-4AF7-4204-75F193B2C9CA}"/>
              </a:ext>
            </a:extLst>
          </p:cNvPr>
          <p:cNvSpPr txBox="1">
            <a:spLocks noGrp="1"/>
          </p:cNvSpPr>
          <p:nvPr>
            <p:ph type="title"/>
          </p:nvPr>
        </p:nvSpPr>
        <p:spPr>
          <a:xfrm>
            <a:off x="0" y="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dirty="0">
                <a:solidFill>
                  <a:srgbClr val="0000FF"/>
                </a:solidFill>
              </a:rPr>
              <a:t>Results Chart</a:t>
            </a:r>
            <a:endParaRPr dirty="0">
              <a:solidFill>
                <a:srgbClr val="0000FF"/>
              </a:solidFill>
            </a:endParaRPr>
          </a:p>
        </p:txBody>
      </p:sp>
      <p:pic>
        <p:nvPicPr>
          <p:cNvPr id="143" name="Google Shape;143;g3f612275319_1_0">
            <a:extLst>
              <a:ext uri="{FF2B5EF4-FFF2-40B4-BE49-F238E27FC236}">
                <a16:creationId xmlns:a16="http://schemas.microsoft.com/office/drawing/2014/main" id="{21049DEC-53F9-B286-941F-852C39883D9C}"/>
              </a:ext>
            </a:extLst>
          </p:cNvPr>
          <p:cNvPicPr preferRelativeResize="0"/>
          <p:nvPr/>
        </p:nvPicPr>
        <p:blipFill>
          <a:blip r:embed="rId3">
            <a:alphaModFix/>
          </a:blip>
          <a:stretch>
            <a:fillRect/>
          </a:stretch>
        </p:blipFill>
        <p:spPr>
          <a:xfrm>
            <a:off x="0" y="518874"/>
            <a:ext cx="9144001" cy="4624626"/>
          </a:xfrm>
          <a:prstGeom prst="rect">
            <a:avLst/>
          </a:prstGeom>
          <a:noFill/>
          <a:ln>
            <a:noFill/>
          </a:ln>
        </p:spPr>
      </p:pic>
      <p:sp>
        <p:nvSpPr>
          <p:cNvPr id="2" name="Rectangle 1">
            <a:extLst>
              <a:ext uri="{FF2B5EF4-FFF2-40B4-BE49-F238E27FC236}">
                <a16:creationId xmlns:a16="http://schemas.microsoft.com/office/drawing/2014/main" id="{14165666-7585-626A-D5A7-181C8AF95FD7}"/>
              </a:ext>
            </a:extLst>
          </p:cNvPr>
          <p:cNvSpPr/>
          <p:nvPr/>
        </p:nvSpPr>
        <p:spPr>
          <a:xfrm>
            <a:off x="1104107" y="1349062"/>
            <a:ext cx="72469" cy="735271"/>
          </a:xfrm>
          <a:prstGeom prst="rect">
            <a:avLst/>
          </a:prstGeom>
          <a:pattFill prst="wdUpDiag">
            <a:fgClr>
              <a:srgbClr val="92D050"/>
            </a:fgClr>
            <a:bgClr>
              <a:schemeClr val="bg1"/>
            </a:bgClr>
          </a:patt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Rectangle 2">
            <a:extLst>
              <a:ext uri="{FF2B5EF4-FFF2-40B4-BE49-F238E27FC236}">
                <a16:creationId xmlns:a16="http://schemas.microsoft.com/office/drawing/2014/main" id="{8E4D1A46-DA31-F237-FB0A-D7A11B7DDDF5}"/>
              </a:ext>
            </a:extLst>
          </p:cNvPr>
          <p:cNvSpPr/>
          <p:nvPr/>
        </p:nvSpPr>
        <p:spPr>
          <a:xfrm>
            <a:off x="2744016" y="1882665"/>
            <a:ext cx="45719" cy="20166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5" name="Rectangle 4">
            <a:extLst>
              <a:ext uri="{FF2B5EF4-FFF2-40B4-BE49-F238E27FC236}">
                <a16:creationId xmlns:a16="http://schemas.microsoft.com/office/drawing/2014/main" id="{607AB689-8D84-A509-31BA-958EF77C4D16}"/>
              </a:ext>
            </a:extLst>
          </p:cNvPr>
          <p:cNvSpPr/>
          <p:nvPr/>
        </p:nvSpPr>
        <p:spPr>
          <a:xfrm>
            <a:off x="3244146" y="1996225"/>
            <a:ext cx="45719" cy="8810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21ED85E5-6742-84DE-9C6D-4CF834A660CE}"/>
              </a:ext>
            </a:extLst>
          </p:cNvPr>
          <p:cNvSpPr/>
          <p:nvPr/>
        </p:nvSpPr>
        <p:spPr>
          <a:xfrm>
            <a:off x="1657737" y="766293"/>
            <a:ext cx="72469" cy="1347887"/>
          </a:xfrm>
          <a:prstGeom prst="rect">
            <a:avLst/>
          </a:prstGeom>
          <a:solidFill>
            <a:srgbClr val="00206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Rectangle 6">
            <a:extLst>
              <a:ext uri="{FF2B5EF4-FFF2-40B4-BE49-F238E27FC236}">
                <a16:creationId xmlns:a16="http://schemas.microsoft.com/office/drawing/2014/main" id="{A934BC8F-B150-9017-AA58-3A647B678D9C}"/>
              </a:ext>
            </a:extLst>
          </p:cNvPr>
          <p:cNvSpPr/>
          <p:nvPr/>
        </p:nvSpPr>
        <p:spPr>
          <a:xfrm>
            <a:off x="1176576" y="754396"/>
            <a:ext cx="72469" cy="1347887"/>
          </a:xfrm>
          <a:prstGeom prst="rect">
            <a:avLst/>
          </a:prstGeom>
          <a:solidFill>
            <a:srgbClr val="00206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Rectangle 7">
            <a:extLst>
              <a:ext uri="{FF2B5EF4-FFF2-40B4-BE49-F238E27FC236}">
                <a16:creationId xmlns:a16="http://schemas.microsoft.com/office/drawing/2014/main" id="{29B6C312-5B86-861B-7349-FFEB3A7135E7}"/>
              </a:ext>
            </a:extLst>
          </p:cNvPr>
          <p:cNvSpPr/>
          <p:nvPr/>
        </p:nvSpPr>
        <p:spPr>
          <a:xfrm>
            <a:off x="1249045" y="754396"/>
            <a:ext cx="72469" cy="1347887"/>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Rectangle 8">
            <a:extLst>
              <a:ext uri="{FF2B5EF4-FFF2-40B4-BE49-F238E27FC236}">
                <a16:creationId xmlns:a16="http://schemas.microsoft.com/office/drawing/2014/main" id="{5FE255E9-1D3E-459F-7656-40B5D0DC08C5}"/>
              </a:ext>
            </a:extLst>
          </p:cNvPr>
          <p:cNvSpPr/>
          <p:nvPr/>
        </p:nvSpPr>
        <p:spPr>
          <a:xfrm>
            <a:off x="756399" y="1757966"/>
            <a:ext cx="45719" cy="34949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0" name="Rectangle 9">
            <a:extLst>
              <a:ext uri="{FF2B5EF4-FFF2-40B4-BE49-F238E27FC236}">
                <a16:creationId xmlns:a16="http://schemas.microsoft.com/office/drawing/2014/main" id="{76224C00-DBEF-90AE-5123-AB4287D96AAC}"/>
              </a:ext>
            </a:extLst>
          </p:cNvPr>
          <p:cNvSpPr/>
          <p:nvPr/>
        </p:nvSpPr>
        <p:spPr>
          <a:xfrm>
            <a:off x="586711" y="1996225"/>
            <a:ext cx="72469" cy="117955"/>
          </a:xfrm>
          <a:prstGeom prst="rect">
            <a:avLst/>
          </a:prstGeom>
          <a:pattFill prst="wdUpDiag">
            <a:fgClr>
              <a:srgbClr val="92D050"/>
            </a:fgClr>
            <a:bgClr>
              <a:schemeClr val="bg1"/>
            </a:bgClr>
          </a:patt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1" name="Rectangle 10">
            <a:extLst>
              <a:ext uri="{FF2B5EF4-FFF2-40B4-BE49-F238E27FC236}">
                <a16:creationId xmlns:a16="http://schemas.microsoft.com/office/drawing/2014/main" id="{602EFDC8-FE2B-7315-C85E-3CA1958D1E98}"/>
              </a:ext>
            </a:extLst>
          </p:cNvPr>
          <p:cNvSpPr/>
          <p:nvPr/>
        </p:nvSpPr>
        <p:spPr>
          <a:xfrm>
            <a:off x="3566024" y="2114180"/>
            <a:ext cx="72469" cy="274851"/>
          </a:xfrm>
          <a:prstGeom prst="rect">
            <a:avLst/>
          </a:prstGeom>
          <a:pattFill prst="wdUpDiag">
            <a:fgClr>
              <a:srgbClr val="92D050"/>
            </a:fgClr>
            <a:bgClr>
              <a:schemeClr val="bg1"/>
            </a:bgClr>
          </a:patt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2" name="Rectangle 11">
            <a:extLst>
              <a:ext uri="{FF2B5EF4-FFF2-40B4-BE49-F238E27FC236}">
                <a16:creationId xmlns:a16="http://schemas.microsoft.com/office/drawing/2014/main" id="{A6C329D5-F1BD-0719-6EBC-B9AEDF6E295A}"/>
              </a:ext>
            </a:extLst>
          </p:cNvPr>
          <p:cNvSpPr/>
          <p:nvPr/>
        </p:nvSpPr>
        <p:spPr>
          <a:xfrm>
            <a:off x="4225205" y="2068461"/>
            <a:ext cx="45719" cy="45719"/>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3" name="Rectangle 12">
            <a:extLst>
              <a:ext uri="{FF2B5EF4-FFF2-40B4-BE49-F238E27FC236}">
                <a16:creationId xmlns:a16="http://schemas.microsoft.com/office/drawing/2014/main" id="{7D576C85-9A3F-FEDA-3A66-F661C7223F86}"/>
              </a:ext>
            </a:extLst>
          </p:cNvPr>
          <p:cNvSpPr/>
          <p:nvPr/>
        </p:nvSpPr>
        <p:spPr>
          <a:xfrm>
            <a:off x="2653541" y="1882665"/>
            <a:ext cx="75222" cy="225075"/>
          </a:xfrm>
          <a:prstGeom prst="rect">
            <a:avLst/>
          </a:prstGeom>
          <a:solidFill>
            <a:srgbClr val="00206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4" name="Rectangle 13">
            <a:extLst>
              <a:ext uri="{FF2B5EF4-FFF2-40B4-BE49-F238E27FC236}">
                <a16:creationId xmlns:a16="http://schemas.microsoft.com/office/drawing/2014/main" id="{B0538037-B107-F05A-10F1-CB9285E57B7F}"/>
              </a:ext>
            </a:extLst>
          </p:cNvPr>
          <p:cNvSpPr/>
          <p:nvPr/>
        </p:nvSpPr>
        <p:spPr>
          <a:xfrm>
            <a:off x="749710" y="3266497"/>
            <a:ext cx="75222" cy="265546"/>
          </a:xfrm>
          <a:prstGeom prst="rect">
            <a:avLst/>
          </a:prstGeom>
          <a:solidFill>
            <a:schemeClr val="tx2">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5" name="Rectangle 14">
            <a:extLst>
              <a:ext uri="{FF2B5EF4-FFF2-40B4-BE49-F238E27FC236}">
                <a16:creationId xmlns:a16="http://schemas.microsoft.com/office/drawing/2014/main" id="{E40464C5-5AC0-BF13-0B9A-094515593DBB}"/>
              </a:ext>
            </a:extLst>
          </p:cNvPr>
          <p:cNvSpPr/>
          <p:nvPr/>
        </p:nvSpPr>
        <p:spPr>
          <a:xfrm>
            <a:off x="3221331" y="3266498"/>
            <a:ext cx="75221" cy="265546"/>
          </a:xfrm>
          <a:prstGeom prst="rect">
            <a:avLst/>
          </a:prstGeom>
          <a:solidFill>
            <a:schemeClr val="tx2">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6" name="Rectangle 15">
            <a:extLst>
              <a:ext uri="{FF2B5EF4-FFF2-40B4-BE49-F238E27FC236}">
                <a16:creationId xmlns:a16="http://schemas.microsoft.com/office/drawing/2014/main" id="{1BCFDAA0-43DC-5C36-266D-3FE354AF222D}"/>
              </a:ext>
            </a:extLst>
          </p:cNvPr>
          <p:cNvSpPr/>
          <p:nvPr/>
        </p:nvSpPr>
        <p:spPr>
          <a:xfrm>
            <a:off x="2653541" y="2959343"/>
            <a:ext cx="75222" cy="572700"/>
          </a:xfrm>
          <a:prstGeom prst="rect">
            <a:avLst/>
          </a:prstGeom>
          <a:solidFill>
            <a:schemeClr val="accent6">
              <a:lumMod val="60000"/>
              <a:lumOff val="4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9" name="Rectangle 18">
            <a:extLst>
              <a:ext uri="{FF2B5EF4-FFF2-40B4-BE49-F238E27FC236}">
                <a16:creationId xmlns:a16="http://schemas.microsoft.com/office/drawing/2014/main" id="{84043FA2-86EC-17DC-E8EC-55AA1D35E45D}"/>
              </a:ext>
            </a:extLst>
          </p:cNvPr>
          <p:cNvSpPr/>
          <p:nvPr/>
        </p:nvSpPr>
        <p:spPr>
          <a:xfrm>
            <a:off x="1668326" y="2959343"/>
            <a:ext cx="75222" cy="572700"/>
          </a:xfrm>
          <a:prstGeom prst="rect">
            <a:avLst/>
          </a:prstGeom>
          <a:solidFill>
            <a:schemeClr val="accent6">
              <a:lumMod val="60000"/>
              <a:lumOff val="4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0" name="Rectangle 19">
            <a:extLst>
              <a:ext uri="{FF2B5EF4-FFF2-40B4-BE49-F238E27FC236}">
                <a16:creationId xmlns:a16="http://schemas.microsoft.com/office/drawing/2014/main" id="{A4EFBB39-9626-AABB-4178-B71D3DBF159F}"/>
              </a:ext>
            </a:extLst>
          </p:cNvPr>
          <p:cNvSpPr/>
          <p:nvPr/>
        </p:nvSpPr>
        <p:spPr>
          <a:xfrm>
            <a:off x="522111" y="3300906"/>
            <a:ext cx="75222" cy="231137"/>
          </a:xfrm>
          <a:prstGeom prst="rect">
            <a:avLst/>
          </a:prstGeom>
          <a:solidFill>
            <a:srgbClr val="7030A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1" name="Rectangle 20">
            <a:extLst>
              <a:ext uri="{FF2B5EF4-FFF2-40B4-BE49-F238E27FC236}">
                <a16:creationId xmlns:a16="http://schemas.microsoft.com/office/drawing/2014/main" id="{83505BC4-32F6-4F6E-911D-A612460EEE1D}"/>
              </a:ext>
            </a:extLst>
          </p:cNvPr>
          <p:cNvSpPr/>
          <p:nvPr/>
        </p:nvSpPr>
        <p:spPr>
          <a:xfrm>
            <a:off x="598299" y="3304684"/>
            <a:ext cx="75222" cy="231137"/>
          </a:xfrm>
          <a:prstGeom prst="rect">
            <a:avLst/>
          </a:prstGeom>
          <a:solidFill>
            <a:srgbClr val="92D05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2" name="Rectangle 21">
            <a:extLst>
              <a:ext uri="{FF2B5EF4-FFF2-40B4-BE49-F238E27FC236}">
                <a16:creationId xmlns:a16="http://schemas.microsoft.com/office/drawing/2014/main" id="{FDB32240-7A9B-7B92-6B61-5595B09EF0CE}"/>
              </a:ext>
            </a:extLst>
          </p:cNvPr>
          <p:cNvSpPr/>
          <p:nvPr/>
        </p:nvSpPr>
        <p:spPr>
          <a:xfrm>
            <a:off x="1249045" y="3009135"/>
            <a:ext cx="72468" cy="522908"/>
          </a:xfrm>
          <a:prstGeom prst="rect">
            <a:avLst/>
          </a:prstGeom>
          <a:solidFill>
            <a:schemeClr val="tx2">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3" name="Rectangle 22">
            <a:extLst>
              <a:ext uri="{FF2B5EF4-FFF2-40B4-BE49-F238E27FC236}">
                <a16:creationId xmlns:a16="http://schemas.microsoft.com/office/drawing/2014/main" id="{DF714F6D-7023-B81D-F7DC-C9D924A26B89}"/>
              </a:ext>
            </a:extLst>
          </p:cNvPr>
          <p:cNvSpPr/>
          <p:nvPr/>
        </p:nvSpPr>
        <p:spPr>
          <a:xfrm>
            <a:off x="1159632" y="3009135"/>
            <a:ext cx="67479" cy="522909"/>
          </a:xfrm>
          <a:prstGeom prst="rect">
            <a:avLst/>
          </a:prstGeom>
          <a:solidFill>
            <a:schemeClr val="accent1">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4" name="Rectangle 23">
            <a:extLst>
              <a:ext uri="{FF2B5EF4-FFF2-40B4-BE49-F238E27FC236}">
                <a16:creationId xmlns:a16="http://schemas.microsoft.com/office/drawing/2014/main" id="{C60442B9-1EB5-8B7C-8C7C-8E4D1B02FDBE}"/>
              </a:ext>
            </a:extLst>
          </p:cNvPr>
          <p:cNvSpPr/>
          <p:nvPr/>
        </p:nvSpPr>
        <p:spPr>
          <a:xfrm>
            <a:off x="1092153" y="3059168"/>
            <a:ext cx="67479" cy="472875"/>
          </a:xfrm>
          <a:prstGeom prst="rect">
            <a:avLst/>
          </a:prstGeom>
          <a:solidFill>
            <a:srgbClr val="92D05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97251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2" grpId="0" animBg="1"/>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9" grpId="0" animBg="1"/>
      <p:bldP spid="20" grpId="0" animBg="1"/>
      <p:bldP spid="21" grpId="0" animBg="1"/>
      <p:bldP spid="22"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0" y="0"/>
            <a:ext cx="914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dirty="0">
                <a:solidFill>
                  <a:srgbClr val="0000FF"/>
                </a:solidFill>
                <a:latin typeface="Cambria Math"/>
                <a:ea typeface="Cambria Math"/>
                <a:cs typeface="Cambria Math"/>
                <a:sym typeface="Cambria Math"/>
              </a:rPr>
              <a:t>Results discussion </a:t>
            </a:r>
            <a:endParaRPr dirty="0">
              <a:solidFill>
                <a:srgbClr val="0000FF"/>
              </a:solidFill>
              <a:latin typeface="Cambria Math"/>
              <a:ea typeface="Cambria Math"/>
              <a:cs typeface="Cambria Math"/>
              <a:sym typeface="Cambria Math"/>
            </a:endParaRPr>
          </a:p>
        </p:txBody>
      </p:sp>
      <p:sp>
        <p:nvSpPr>
          <p:cNvPr id="150" name="Google Shape;150;p8"/>
          <p:cNvSpPr txBox="1"/>
          <p:nvPr/>
        </p:nvSpPr>
        <p:spPr>
          <a:xfrm>
            <a:off x="100" y="1649550"/>
            <a:ext cx="4635900" cy="86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200" b="1" dirty="0">
                <a:solidFill>
                  <a:schemeClr val="accent2"/>
                </a:solidFill>
              </a:rPr>
              <a:t>A*: fast, but structurally unsuited to risk</a:t>
            </a:r>
            <a:endParaRPr sz="1200" b="1" dirty="0">
              <a:solidFill>
                <a:schemeClr val="accent2"/>
              </a:solidFill>
            </a:endParaRPr>
          </a:p>
          <a:p>
            <a:pPr marL="171450" lvl="0" indent="-171450">
              <a:lnSpc>
                <a:spcPct val="115000"/>
              </a:lnSpc>
              <a:buClr>
                <a:srgbClr val="FF0000"/>
              </a:buClr>
              <a:buSzPts val="1100"/>
              <a:buFont typeface="Wingdings" panose="05000000000000000000" pitchFamily="2" charset="2"/>
              <a:buChar char="û"/>
            </a:pPr>
            <a:r>
              <a:rPr lang="en-GB" sz="1300" dirty="0">
                <a:solidFill>
                  <a:schemeClr val="dk2"/>
                </a:solidFill>
                <a:latin typeface="Cambria Math"/>
                <a:ea typeface="Cambria Math"/>
                <a:cs typeface="Cambria Math"/>
                <a:sym typeface="Cambria Math"/>
              </a:rPr>
              <a:t>Only algorithm with negative average risk reduction (-8%). </a:t>
            </a:r>
          </a:p>
          <a:p>
            <a:pPr marL="171450" lvl="0" indent="-171450">
              <a:lnSpc>
                <a:spcPct val="115000"/>
              </a:lnSpc>
              <a:buClr>
                <a:srgbClr val="FF0000"/>
              </a:buClr>
              <a:buSzPts val="1100"/>
              <a:buFont typeface="Wingdings" panose="05000000000000000000" pitchFamily="2" charset="2"/>
              <a:buChar char="û"/>
            </a:pPr>
            <a:r>
              <a:rPr lang="en-GB" sz="1300" dirty="0">
                <a:solidFill>
                  <a:schemeClr val="dk2"/>
                </a:solidFill>
                <a:latin typeface="Cambria Math"/>
                <a:ea typeface="Cambria Math"/>
                <a:cs typeface="Cambria Math"/>
                <a:sym typeface="Cambria Math"/>
              </a:rPr>
              <a:t>Great-circle heuristic biases search to "close" paths, not low-risk ones.</a:t>
            </a:r>
            <a:endParaRPr sz="1300" dirty="0">
              <a:solidFill>
                <a:schemeClr val="dk2"/>
              </a:solidFill>
              <a:latin typeface="Cambria Math"/>
              <a:ea typeface="Cambria Math"/>
              <a:cs typeface="Cambria Math"/>
              <a:sym typeface="Cambria Math"/>
            </a:endParaRPr>
          </a:p>
          <a:p>
            <a:pPr marL="0" lvl="0" indent="0" algn="l" rtl="0">
              <a:spcBef>
                <a:spcPts val="0"/>
              </a:spcBef>
              <a:spcAft>
                <a:spcPts val="0"/>
              </a:spcAft>
              <a:buNone/>
            </a:pPr>
            <a:endParaRPr sz="1350" b="1" dirty="0">
              <a:solidFill>
                <a:schemeClr val="accent2"/>
              </a:solidFill>
            </a:endParaRPr>
          </a:p>
        </p:txBody>
      </p:sp>
      <p:sp>
        <p:nvSpPr>
          <p:cNvPr id="151" name="Google Shape;151;p8"/>
          <p:cNvSpPr txBox="1"/>
          <p:nvPr/>
        </p:nvSpPr>
        <p:spPr>
          <a:xfrm>
            <a:off x="0" y="572700"/>
            <a:ext cx="4635900" cy="107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b="1" dirty="0">
                <a:solidFill>
                  <a:schemeClr val="accent2"/>
                </a:solidFill>
              </a:rPr>
              <a:t>Dijkstra: the strongest static baseline</a:t>
            </a:r>
            <a:endParaRPr sz="1200" b="1" dirty="0">
              <a:solidFill>
                <a:schemeClr val="accent2"/>
              </a:solidFill>
            </a:endParaRPr>
          </a:p>
          <a:p>
            <a:pPr marL="171450" lvl="0" indent="-171450">
              <a:lnSpc>
                <a:spcPct val="115000"/>
              </a:lnSpc>
              <a:buClr>
                <a:srgbClr val="00B050"/>
              </a:buClr>
              <a:buFont typeface="Wingdings" panose="05000000000000000000" pitchFamily="2" charset="2"/>
              <a:buChar char="ü"/>
            </a:pPr>
            <a:r>
              <a:rPr lang="en-GB" sz="1300" dirty="0">
                <a:solidFill>
                  <a:schemeClr val="dk2"/>
                </a:solidFill>
                <a:latin typeface="Cambria Math"/>
                <a:ea typeface="Cambria Math"/>
                <a:cs typeface="Cambria Math"/>
                <a:sym typeface="Cambria Math"/>
              </a:rPr>
              <a:t>Highest combined accuracy (~95%) and lowest runtime</a:t>
            </a:r>
          </a:p>
          <a:p>
            <a:pPr marL="171450" lvl="0" indent="-171450">
              <a:lnSpc>
                <a:spcPct val="115000"/>
              </a:lnSpc>
              <a:buClr>
                <a:srgbClr val="00B050"/>
              </a:buClr>
              <a:buFont typeface="Wingdings" panose="05000000000000000000" pitchFamily="2" charset="2"/>
              <a:buChar char="ü"/>
            </a:pPr>
            <a:r>
              <a:rPr lang="en-GB" sz="1300" dirty="0">
                <a:solidFill>
                  <a:schemeClr val="dk2"/>
                </a:solidFill>
                <a:latin typeface="Cambria Math"/>
                <a:ea typeface="Cambria Math"/>
                <a:cs typeface="Cambria Math"/>
                <a:sym typeface="Cambria Math"/>
              </a:rPr>
              <a:t>~61% safety gain </a:t>
            </a:r>
          </a:p>
          <a:p>
            <a:pPr marL="171450" lvl="0" indent="-171450">
              <a:lnSpc>
                <a:spcPct val="115000"/>
              </a:lnSpc>
              <a:buClr>
                <a:srgbClr val="00B050"/>
              </a:buClr>
              <a:buFont typeface="Wingdings" panose="05000000000000000000" pitchFamily="2" charset="2"/>
              <a:buChar char="ü"/>
            </a:pPr>
            <a:r>
              <a:rPr lang="en-GB" sz="1300" dirty="0">
                <a:solidFill>
                  <a:schemeClr val="dk2"/>
                </a:solidFill>
                <a:latin typeface="Cambria Math"/>
                <a:ea typeface="Cambria Math"/>
                <a:cs typeface="Cambria Math"/>
                <a:sym typeface="Cambria Math"/>
              </a:rPr>
              <a:t>~50% risk reduction in both configurations</a:t>
            </a:r>
            <a:endParaRPr sz="1300" dirty="0">
              <a:solidFill>
                <a:schemeClr val="dk2"/>
              </a:solidFill>
              <a:latin typeface="Cambria Math"/>
              <a:ea typeface="Cambria Math"/>
              <a:cs typeface="Cambria Math"/>
              <a:sym typeface="Cambria Math"/>
            </a:endParaRPr>
          </a:p>
          <a:p>
            <a:pPr marL="0" lvl="0" indent="0" algn="l" rtl="0">
              <a:spcBef>
                <a:spcPts val="0"/>
              </a:spcBef>
              <a:spcAft>
                <a:spcPts val="0"/>
              </a:spcAft>
              <a:buNone/>
            </a:pPr>
            <a:endParaRPr sz="1100" dirty="0">
              <a:solidFill>
                <a:srgbClr val="334155"/>
              </a:solidFill>
              <a:highlight>
                <a:srgbClr val="FFFFFF"/>
              </a:highlight>
            </a:endParaRPr>
          </a:p>
        </p:txBody>
      </p:sp>
      <p:sp>
        <p:nvSpPr>
          <p:cNvPr id="152" name="Google Shape;152;p8"/>
          <p:cNvSpPr txBox="1"/>
          <p:nvPr/>
        </p:nvSpPr>
        <p:spPr>
          <a:xfrm>
            <a:off x="100" y="2647269"/>
            <a:ext cx="4635900" cy="86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200" b="1" dirty="0">
                <a:solidFill>
                  <a:schemeClr val="accent2"/>
                </a:solidFill>
              </a:rPr>
              <a:t>PSO: the most balanced choice for real-time</a:t>
            </a:r>
            <a:endParaRPr sz="1200" b="1" dirty="0">
              <a:solidFill>
                <a:schemeClr val="accent2"/>
              </a:solidFill>
            </a:endParaRPr>
          </a:p>
          <a:p>
            <a:pPr lvl="0">
              <a:lnSpc>
                <a:spcPct val="115000"/>
              </a:lnSpc>
              <a:buClr>
                <a:schemeClr val="dk1"/>
              </a:buClr>
              <a:buSzPts val="1100"/>
            </a:pPr>
            <a:r>
              <a:rPr lang="en-GB" sz="1300" dirty="0">
                <a:solidFill>
                  <a:srgbClr val="FF0000"/>
                </a:solidFill>
                <a:latin typeface="Cambria Math"/>
                <a:ea typeface="Cambria Math"/>
                <a:cs typeface="Cambria Math"/>
                <a:sym typeface="Wingdings" panose="05000000000000000000" pitchFamily="2" charset="2"/>
              </a:rPr>
              <a:t>  </a:t>
            </a:r>
            <a:r>
              <a:rPr lang="en-GB" sz="1300" dirty="0">
                <a:solidFill>
                  <a:schemeClr val="dk2"/>
                </a:solidFill>
                <a:latin typeface="Cambria Math"/>
                <a:ea typeface="Cambria Math"/>
                <a:cs typeface="Cambria Math"/>
                <a:sym typeface="Cambria Math"/>
              </a:rPr>
              <a:t>Safety gain 61.9% (NRT) -&gt; 44.3% (RT), </a:t>
            </a:r>
          </a:p>
          <a:p>
            <a:pPr lvl="0">
              <a:lnSpc>
                <a:spcPct val="115000"/>
              </a:lnSpc>
              <a:buClr>
                <a:schemeClr val="dk1"/>
              </a:buClr>
              <a:buSzPts val="1100"/>
            </a:pPr>
            <a:r>
              <a:rPr kumimoji="0" lang="en-GB" sz="1300" b="0" i="0" u="none" strike="noStrike" kern="0" cap="none" spc="0" normalizeH="0" baseline="0" noProof="0" dirty="0">
                <a:ln>
                  <a:noFill/>
                </a:ln>
                <a:solidFill>
                  <a:srgbClr val="00B050"/>
                </a:solidFill>
                <a:effectLst/>
                <a:uLnTx/>
                <a:uFillTx/>
                <a:latin typeface="Cambria Math"/>
                <a:ea typeface="Cambria Math"/>
                <a:cs typeface="Cambria Math"/>
                <a:sym typeface="Wingdings" panose="05000000000000000000" pitchFamily="2" charset="2"/>
              </a:rPr>
              <a:t> </a:t>
            </a:r>
            <a:r>
              <a:rPr kumimoji="0" lang="en-GB" sz="1300" b="0" i="0" u="none" strike="noStrike" kern="0" cap="none" spc="0" normalizeH="0" baseline="0" noProof="0" dirty="0">
                <a:ln>
                  <a:noFill/>
                </a:ln>
                <a:solidFill>
                  <a:schemeClr val="dk2"/>
                </a:solidFill>
                <a:effectLst/>
                <a:uLnTx/>
                <a:uFillTx/>
                <a:latin typeface="Cambria Math"/>
                <a:ea typeface="Cambria Math"/>
                <a:cs typeface="Cambria Math"/>
                <a:sym typeface="Cambria Math"/>
              </a:rPr>
              <a:t>RT</a:t>
            </a:r>
            <a:r>
              <a:rPr lang="en-GB" sz="1300" dirty="0">
                <a:solidFill>
                  <a:schemeClr val="dk2"/>
                </a:solidFill>
                <a:latin typeface="Cambria Math"/>
                <a:ea typeface="Cambria Math"/>
                <a:cs typeface="Cambria Math"/>
                <a:sym typeface="Cambria Math"/>
              </a:rPr>
              <a:t> lowest of 3 swarm methods - good trade-off under time pressure.</a:t>
            </a:r>
            <a:endParaRPr sz="1300" dirty="0">
              <a:solidFill>
                <a:schemeClr val="dk2"/>
              </a:solidFill>
              <a:latin typeface="Cambria Math"/>
              <a:ea typeface="Cambria Math"/>
              <a:cs typeface="Cambria Math"/>
              <a:sym typeface="Cambria Math"/>
            </a:endParaRPr>
          </a:p>
          <a:p>
            <a:pPr marL="0" lvl="0" indent="0" algn="l" rtl="0">
              <a:spcBef>
                <a:spcPts val="0"/>
              </a:spcBef>
              <a:spcAft>
                <a:spcPts val="0"/>
              </a:spcAft>
              <a:buNone/>
            </a:pPr>
            <a:endParaRPr sz="1350" b="1" dirty="0">
              <a:solidFill>
                <a:schemeClr val="accent2"/>
              </a:solidFill>
            </a:endParaRPr>
          </a:p>
        </p:txBody>
      </p:sp>
      <p:sp>
        <p:nvSpPr>
          <p:cNvPr id="153" name="Google Shape;153;p8"/>
          <p:cNvSpPr txBox="1"/>
          <p:nvPr/>
        </p:nvSpPr>
        <p:spPr>
          <a:xfrm>
            <a:off x="100" y="3702957"/>
            <a:ext cx="4635900" cy="86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1200" b="1" dirty="0">
                <a:solidFill>
                  <a:schemeClr val="accent2"/>
                </a:solidFill>
              </a:rPr>
              <a:t>ACO &amp; WPO: strong safety, weaker real-time fit</a:t>
            </a:r>
            <a:endParaRPr sz="1200" b="1" dirty="0">
              <a:solidFill>
                <a:schemeClr val="accent2"/>
              </a:solidFill>
            </a:endParaRPr>
          </a:p>
          <a:p>
            <a:pPr marL="0" lvl="0" indent="0" algn="l" rtl="0">
              <a:lnSpc>
                <a:spcPct val="115000"/>
              </a:lnSpc>
              <a:spcBef>
                <a:spcPts val="0"/>
              </a:spcBef>
              <a:spcAft>
                <a:spcPts val="0"/>
              </a:spcAft>
              <a:buClr>
                <a:schemeClr val="dk1"/>
              </a:buClr>
              <a:buSzPts val="1100"/>
              <a:buFont typeface="Arial"/>
              <a:buNone/>
            </a:pPr>
            <a:r>
              <a:rPr lang="en-GB" sz="1300" dirty="0">
                <a:solidFill>
                  <a:srgbClr val="00B050"/>
                </a:solidFill>
                <a:latin typeface="Cambria Math"/>
                <a:ea typeface="Cambria Math"/>
                <a:cs typeface="Cambria Math"/>
                <a:sym typeface="Wingdings" panose="05000000000000000000" pitchFamily="2" charset="2"/>
              </a:rPr>
              <a:t></a:t>
            </a:r>
            <a:r>
              <a:rPr lang="en-GB" sz="1300" dirty="0">
                <a:solidFill>
                  <a:schemeClr val="dk2"/>
                </a:solidFill>
                <a:latin typeface="Cambria Math"/>
                <a:ea typeface="Cambria Math"/>
                <a:cs typeface="Cambria Math"/>
                <a:sym typeface="Cambria Math"/>
              </a:rPr>
              <a:t>Both matched or exceeded Dijkstra's safety gains</a:t>
            </a:r>
          </a:p>
          <a:p>
            <a:pPr lvl="0">
              <a:lnSpc>
                <a:spcPct val="115000"/>
              </a:lnSpc>
              <a:buClr>
                <a:schemeClr val="dk1"/>
              </a:buClr>
              <a:buSzPts val="1100"/>
            </a:pPr>
            <a:r>
              <a:rPr lang="en-GB" sz="1300" dirty="0">
                <a:solidFill>
                  <a:srgbClr val="FF0000"/>
                </a:solidFill>
                <a:latin typeface="Cambria Math"/>
                <a:ea typeface="Cambria Math"/>
                <a:cs typeface="Cambria Math"/>
                <a:sym typeface="Wingdings" panose="05000000000000000000" pitchFamily="2" charset="2"/>
              </a:rPr>
              <a:t> </a:t>
            </a:r>
            <a:r>
              <a:rPr lang="en-GB" sz="1300" dirty="0">
                <a:solidFill>
                  <a:schemeClr val="dk2"/>
                </a:solidFill>
                <a:latin typeface="Cambria Math"/>
                <a:ea typeface="Cambria Math"/>
                <a:cs typeface="Cambria Math"/>
                <a:sym typeface="Cambria Math"/>
              </a:rPr>
              <a:t>ACO: volatile runtime &amp; WPO stayed consistently high</a:t>
            </a:r>
            <a:endParaRPr sz="1300" dirty="0">
              <a:solidFill>
                <a:schemeClr val="dk2"/>
              </a:solidFill>
              <a:latin typeface="Cambria Math"/>
              <a:ea typeface="Cambria Math"/>
              <a:cs typeface="Cambria Math"/>
              <a:sym typeface="Cambria Math"/>
            </a:endParaRPr>
          </a:p>
          <a:p>
            <a:pPr marL="0" lvl="0" indent="0" algn="l" rtl="0">
              <a:spcBef>
                <a:spcPts val="0"/>
              </a:spcBef>
              <a:spcAft>
                <a:spcPts val="0"/>
              </a:spcAft>
              <a:buNone/>
            </a:pPr>
            <a:endParaRPr sz="1350" b="1" dirty="0">
              <a:solidFill>
                <a:schemeClr val="accent2"/>
              </a:solidFill>
            </a:endParaRPr>
          </a:p>
        </p:txBody>
      </p:sp>
      <p:sp>
        <p:nvSpPr>
          <p:cNvPr id="155" name="Google Shape;155;p8"/>
          <p:cNvSpPr txBox="1"/>
          <p:nvPr/>
        </p:nvSpPr>
        <p:spPr>
          <a:xfrm>
            <a:off x="4611394" y="1223263"/>
            <a:ext cx="4557113" cy="86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200" b="1" dirty="0">
                <a:solidFill>
                  <a:srgbClr val="0F172A"/>
                </a:solidFill>
                <a:highlight>
                  <a:srgbClr val="FFFFFF"/>
                </a:highlight>
              </a:rPr>
              <a:t>RQ1: Real-Time Data Impact: </a:t>
            </a:r>
            <a:r>
              <a:rPr lang="en-GB" i="1" dirty="0">
                <a:solidFill>
                  <a:srgbClr val="64748B"/>
                </a:solidFill>
                <a:highlight>
                  <a:srgbClr val="FFFFFF"/>
                </a:highlight>
              </a:rPr>
              <a:t>Live vs Static Data Efficacy</a:t>
            </a:r>
            <a:endParaRPr sz="1800" i="1" dirty="0">
              <a:solidFill>
                <a:srgbClr val="64748B"/>
              </a:solidFill>
              <a:highlight>
                <a:srgbClr val="FFFFFF"/>
              </a:highlight>
            </a:endParaRPr>
          </a:p>
          <a:p>
            <a:pPr marL="171450" lvl="0" indent="-171450">
              <a:buClr>
                <a:srgbClr val="00B050"/>
              </a:buClr>
              <a:buFont typeface="Wingdings" panose="05000000000000000000" pitchFamily="2" charset="2"/>
              <a:buChar char="ü"/>
            </a:pPr>
            <a:r>
              <a:rPr lang="en-GB" sz="1300" dirty="0">
                <a:effectLst/>
                <a:latin typeface="Cambria Math" panose="02040503050406030204" pitchFamily="18" charset="0"/>
                <a:ea typeface="Cambria Math" panose="02040503050406030204" pitchFamily="18" charset="0"/>
              </a:rPr>
              <a:t>RT integration continuously reshapes reliability profiles</a:t>
            </a:r>
          </a:p>
          <a:p>
            <a:pPr marL="171450" lvl="0" indent="-171450">
              <a:buClr>
                <a:srgbClr val="00B050"/>
              </a:buClr>
              <a:buFont typeface="Wingdings" panose="05000000000000000000" pitchFamily="2" charset="2"/>
              <a:buChar char="ü"/>
            </a:pPr>
            <a:r>
              <a:rPr lang="en-IE" sz="1300" dirty="0">
                <a:effectLst/>
                <a:latin typeface="Cambria Math" panose="02040503050406030204" pitchFamily="18" charset="0"/>
                <a:ea typeface="Cambria Math" panose="02040503050406030204" pitchFamily="18" charset="0"/>
              </a:rPr>
              <a:t>Swarm e.g. PSO handle sparse data without collapsing.</a:t>
            </a:r>
            <a:endParaRPr lang="en-IE" sz="1300" dirty="0">
              <a:latin typeface="Cambria Math" panose="02040503050406030204" pitchFamily="18" charset="0"/>
              <a:ea typeface="Cambria Math" panose="02040503050406030204" pitchFamily="18" charset="0"/>
            </a:endParaRPr>
          </a:p>
          <a:p>
            <a:pPr marL="171450" lvl="1" indent="-171450">
              <a:buClr>
                <a:srgbClr val="00B050"/>
              </a:buClr>
              <a:buFont typeface="Wingdings" panose="05000000000000000000" pitchFamily="2" charset="2"/>
              <a:buChar char="ü"/>
            </a:pPr>
            <a:r>
              <a:rPr lang="en-IE" sz="1300" dirty="0">
                <a:latin typeface="Cambria Math" panose="02040503050406030204" pitchFamily="18" charset="0"/>
                <a:ea typeface="Cambria Math" panose="02040503050406030204" pitchFamily="18" charset="0"/>
              </a:rPr>
              <a:t>A</a:t>
            </a:r>
            <a:r>
              <a:rPr lang="en-IE" sz="1300" dirty="0">
                <a:effectLst/>
                <a:latin typeface="Cambria Math" panose="02040503050406030204" pitchFamily="18" charset="0"/>
                <a:ea typeface="Cambria Math" panose="02040503050406030204" pitchFamily="18" charset="0"/>
              </a:rPr>
              <a:t>dapt quickly to changing network conditions.</a:t>
            </a:r>
            <a:endParaRPr lang="en-IE" sz="1300" dirty="0">
              <a:latin typeface="Cambria Math" panose="02040503050406030204" pitchFamily="18" charset="0"/>
              <a:ea typeface="Cambria Math" panose="02040503050406030204" pitchFamily="18" charset="0"/>
            </a:endParaRPr>
          </a:p>
          <a:p>
            <a:pPr marL="171450" lvl="2" indent="-171450">
              <a:buClr>
                <a:srgbClr val="00B050"/>
              </a:buClr>
              <a:buFont typeface="Wingdings" panose="05000000000000000000" pitchFamily="2" charset="2"/>
              <a:buChar char="ü"/>
            </a:pPr>
            <a:r>
              <a:rPr lang="en-IE" sz="1300" dirty="0">
                <a:latin typeface="Cambria Math" panose="02040503050406030204" pitchFamily="18" charset="0"/>
                <a:ea typeface="Cambria Math" panose="02040503050406030204" pitchFamily="18" charset="0"/>
              </a:rPr>
              <a:t>N</a:t>
            </a:r>
            <a:r>
              <a:rPr lang="en-IE" sz="1300" dirty="0">
                <a:effectLst/>
                <a:latin typeface="Cambria Math" panose="02040503050406030204" pitchFamily="18" charset="0"/>
                <a:ea typeface="Cambria Math" panose="02040503050406030204" pitchFamily="18" charset="0"/>
              </a:rPr>
              <a:t>o heavy re‑computation costs of classical global search trees.</a:t>
            </a:r>
            <a:endParaRPr lang="en-IE" sz="1300" dirty="0">
              <a:latin typeface="Cambria Math" panose="02040503050406030204" pitchFamily="18" charset="0"/>
              <a:ea typeface="Cambria Math" panose="02040503050406030204" pitchFamily="18" charset="0"/>
            </a:endParaRPr>
          </a:p>
        </p:txBody>
      </p:sp>
      <p:sp>
        <p:nvSpPr>
          <p:cNvPr id="157" name="Google Shape;157;p8"/>
          <p:cNvSpPr txBox="1"/>
          <p:nvPr/>
        </p:nvSpPr>
        <p:spPr>
          <a:xfrm>
            <a:off x="4635900" y="2766466"/>
            <a:ext cx="4447800" cy="86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dirty="0">
                <a:solidFill>
                  <a:srgbClr val="0F172A"/>
                </a:solidFill>
                <a:highlight>
                  <a:srgbClr val="F8FAFC"/>
                </a:highlight>
              </a:rPr>
              <a:t>RQ2: Risk vs Distance Penalty: </a:t>
            </a:r>
            <a:r>
              <a:rPr lang="en-GB" i="1" dirty="0">
                <a:solidFill>
                  <a:srgbClr val="64748B"/>
                </a:solidFill>
                <a:highlight>
                  <a:srgbClr val="F8FAFC"/>
                </a:highlight>
              </a:rPr>
              <a:t>Safety vs Convenience Trade-off</a:t>
            </a:r>
            <a:endParaRPr i="1" dirty="0">
              <a:solidFill>
                <a:srgbClr val="64748B"/>
              </a:solidFill>
              <a:highlight>
                <a:srgbClr val="F8FAFC"/>
              </a:highlight>
            </a:endParaRPr>
          </a:p>
          <a:p>
            <a:pPr marL="171450" lvl="0" indent="-171450" algn="l" rtl="0">
              <a:spcBef>
                <a:spcPts val="0"/>
              </a:spcBef>
              <a:spcAft>
                <a:spcPts val="0"/>
              </a:spcAft>
              <a:buClr>
                <a:srgbClr val="00B050"/>
              </a:buClr>
              <a:buFont typeface="Wingdings" panose="05000000000000000000" pitchFamily="2" charset="2"/>
              <a:buChar char="ü"/>
            </a:pPr>
            <a:r>
              <a:rPr lang="en-GB" sz="1300" dirty="0">
                <a:solidFill>
                  <a:schemeClr val="dk1"/>
                </a:solidFill>
                <a:highlight>
                  <a:srgbClr val="F8FAFC"/>
                </a:highlight>
                <a:latin typeface="Cambria Math"/>
                <a:ea typeface="Cambria Math"/>
                <a:cs typeface="Cambria Math"/>
                <a:sym typeface="Cambria Math"/>
              </a:rPr>
              <a:t>Swarm routing disproved heavy trade‑off hypothesis</a:t>
            </a:r>
          </a:p>
          <a:p>
            <a:pPr marL="171450" lvl="0" indent="-171450" algn="l" rtl="0">
              <a:spcBef>
                <a:spcPts val="0"/>
              </a:spcBef>
              <a:spcAft>
                <a:spcPts val="0"/>
              </a:spcAft>
              <a:buClr>
                <a:srgbClr val="00B050"/>
              </a:buClr>
              <a:buFont typeface="Wingdings" panose="05000000000000000000" pitchFamily="2" charset="2"/>
              <a:buChar char="ü"/>
            </a:pPr>
            <a:r>
              <a:rPr lang="en-GB" sz="1300" dirty="0">
                <a:solidFill>
                  <a:schemeClr val="dk1"/>
                </a:solidFill>
                <a:highlight>
                  <a:srgbClr val="F8FAFC"/>
                </a:highlight>
                <a:latin typeface="Cambria Math"/>
                <a:ea typeface="Cambria Math"/>
                <a:cs typeface="Cambria Math"/>
                <a:sym typeface="Cambria Math"/>
              </a:rPr>
              <a:t>Achieved up to 63% safety‑risk reduction</a:t>
            </a:r>
          </a:p>
          <a:p>
            <a:pPr marL="171450" lvl="0" indent="-171450" algn="l" rtl="0">
              <a:spcBef>
                <a:spcPts val="0"/>
              </a:spcBef>
              <a:spcAft>
                <a:spcPts val="0"/>
              </a:spcAft>
              <a:buClr>
                <a:srgbClr val="00B050"/>
              </a:buClr>
              <a:buFont typeface="Wingdings" panose="05000000000000000000" pitchFamily="2" charset="2"/>
              <a:buChar char="ü"/>
            </a:pPr>
            <a:r>
              <a:rPr lang="en-GB" sz="1300" dirty="0">
                <a:solidFill>
                  <a:schemeClr val="dk1"/>
                </a:solidFill>
                <a:highlight>
                  <a:srgbClr val="F8FAFC"/>
                </a:highlight>
                <a:latin typeface="Cambria Math"/>
                <a:ea typeface="Cambria Math"/>
                <a:cs typeface="Cambria Math"/>
                <a:sym typeface="Cambria Math"/>
              </a:rPr>
              <a:t>Only 5%+ travel distance vs shortest‑path routing  </a:t>
            </a:r>
          </a:p>
          <a:p>
            <a:pPr marL="171450" lvl="0" indent="-171450" algn="l" rtl="0">
              <a:spcBef>
                <a:spcPts val="0"/>
              </a:spcBef>
              <a:spcAft>
                <a:spcPts val="0"/>
              </a:spcAft>
              <a:buClr>
                <a:srgbClr val="00B050"/>
              </a:buClr>
              <a:buFont typeface="Wingdings" panose="05000000000000000000" pitchFamily="2" charset="2"/>
              <a:buChar char="ü"/>
            </a:pPr>
            <a:r>
              <a:rPr lang="en-GB" sz="1300" dirty="0">
                <a:solidFill>
                  <a:schemeClr val="dk1"/>
                </a:solidFill>
                <a:highlight>
                  <a:srgbClr val="F8FAFC"/>
                </a:highlight>
                <a:latin typeface="Cambria Math"/>
                <a:ea typeface="Cambria Math"/>
                <a:cs typeface="Cambria Math"/>
                <a:sym typeface="Cambria Math"/>
              </a:rPr>
              <a:t>Shows high safety gains with minimal efficiency cost</a:t>
            </a:r>
            <a:endParaRPr sz="1300" dirty="0">
              <a:solidFill>
                <a:srgbClr val="64748B"/>
              </a:solidFill>
              <a:highlight>
                <a:srgbClr val="F8FAFC"/>
              </a:highlight>
              <a:latin typeface="Cambria Math"/>
              <a:ea typeface="Cambria Math"/>
              <a:cs typeface="Cambria Math"/>
              <a:sym typeface="Cambria Math"/>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p:bldP spid="150" grpId="0"/>
      <p:bldP spid="151" grpId="0"/>
      <p:bldP spid="152" grpId="0"/>
      <p:bldP spid="153" grpId="0"/>
      <p:bldP spid="155" grpId="0"/>
      <p:bldP spid="1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9"/>
          <p:cNvSpPr txBox="1">
            <a:spLocks noGrp="1"/>
          </p:cNvSpPr>
          <p:nvPr>
            <p:ph type="title"/>
          </p:nvPr>
        </p:nvSpPr>
        <p:spPr>
          <a:xfrm>
            <a:off x="0" y="0"/>
            <a:ext cx="9144000" cy="373488"/>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dirty="0">
                <a:solidFill>
                  <a:srgbClr val="0000FF"/>
                </a:solidFill>
                <a:latin typeface="Cambria Math"/>
                <a:ea typeface="Cambria Math"/>
                <a:cs typeface="Cambria Math"/>
                <a:sym typeface="Cambria Math"/>
              </a:rPr>
              <a:t>Conclusion and Future Work</a:t>
            </a:r>
            <a:endParaRPr dirty="0">
              <a:solidFill>
                <a:srgbClr val="0000FF"/>
              </a:solidFill>
              <a:latin typeface="Cambria Math"/>
              <a:ea typeface="Cambria Math"/>
              <a:cs typeface="Cambria Math"/>
              <a:sym typeface="Cambria Math"/>
            </a:endParaRPr>
          </a:p>
        </p:txBody>
      </p:sp>
      <p:sp>
        <p:nvSpPr>
          <p:cNvPr id="168" name="Google Shape;168;p9"/>
          <p:cNvSpPr txBox="1"/>
          <p:nvPr/>
        </p:nvSpPr>
        <p:spPr>
          <a:xfrm>
            <a:off x="0" y="482958"/>
            <a:ext cx="4505100" cy="4660542"/>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b="1" dirty="0">
                <a:solidFill>
                  <a:schemeClr val="dk1"/>
                </a:solidFill>
              </a:rPr>
              <a:t>Key conclusions</a:t>
            </a:r>
            <a:endParaRPr b="1" dirty="0">
              <a:solidFill>
                <a:schemeClr val="dk1"/>
              </a:solidFill>
            </a:endParaRPr>
          </a:p>
          <a:p>
            <a:pPr marL="285750" lvl="0" indent="-285750">
              <a:buFont typeface="Arial" panose="020B0604020202020204" pitchFamily="34" charset="0"/>
              <a:buChar char="•"/>
            </a:pPr>
            <a:r>
              <a:rPr lang="en-IE" sz="1800" dirty="0">
                <a:latin typeface="Cambria Math" panose="02040503050406030204" pitchFamily="18" charset="0"/>
                <a:ea typeface="Cambria Math" panose="02040503050406030204" pitchFamily="18" charset="0"/>
              </a:rPr>
              <a:t>Real‑time data changes routing behaviour, directly affecting algorithm performance.</a:t>
            </a:r>
          </a:p>
          <a:p>
            <a:pPr marL="285750" lvl="0" indent="-285750">
              <a:buFont typeface="Arial" panose="020B0604020202020204" pitchFamily="34" charset="0"/>
              <a:buChar char="•"/>
            </a:pPr>
            <a:r>
              <a:rPr lang="en-IE" sz="1800" dirty="0">
                <a:latin typeface="Cambria Math" panose="02040503050406030204" pitchFamily="18" charset="0"/>
                <a:ea typeface="Cambria Math" panose="02040503050406030204" pitchFamily="18" charset="0"/>
              </a:rPr>
              <a:t>Swarm methods improve safety with very small distance increases.</a:t>
            </a:r>
          </a:p>
          <a:p>
            <a:pPr marL="285750" lvl="0" indent="-285750">
              <a:buFont typeface="Arial" panose="020B0604020202020204" pitchFamily="34" charset="0"/>
              <a:buChar char="•"/>
            </a:pPr>
            <a:r>
              <a:rPr lang="en-IE" sz="1800" dirty="0">
                <a:latin typeface="Cambria Math" panose="02040503050406030204" pitchFamily="18" charset="0"/>
                <a:ea typeface="Cambria Math" panose="02040503050406030204" pitchFamily="18" charset="0"/>
              </a:rPr>
              <a:t>Routes achieved &gt;90% accuracy and up to 198% safety gains.</a:t>
            </a:r>
          </a:p>
          <a:p>
            <a:pPr marL="285750" lvl="0" indent="-285750">
              <a:buFont typeface="Arial" panose="020B0604020202020204" pitchFamily="34" charset="0"/>
              <a:buChar char="•"/>
            </a:pPr>
            <a:r>
              <a:rPr lang="en-IE" sz="1800" dirty="0">
                <a:latin typeface="Cambria Math" panose="02040503050406030204" pitchFamily="18" charset="0"/>
                <a:ea typeface="Cambria Math" panose="02040503050406030204" pitchFamily="18" charset="0"/>
              </a:rPr>
              <a:t>WPO gives the highest safety but is the slowest.</a:t>
            </a:r>
          </a:p>
          <a:p>
            <a:pPr marL="285750" lvl="0" indent="-285750">
              <a:buFont typeface="Arial" panose="020B0604020202020204" pitchFamily="34" charset="0"/>
              <a:buChar char="•"/>
            </a:pPr>
            <a:r>
              <a:rPr lang="en-IE" sz="1800" dirty="0">
                <a:latin typeface="Cambria Math" panose="02040503050406030204" pitchFamily="18" charset="0"/>
                <a:ea typeface="Cambria Math" panose="02040503050406030204" pitchFamily="18" charset="0"/>
              </a:rPr>
              <a:t>PSO provides the best real‑time balance of safety vs distance.</a:t>
            </a:r>
          </a:p>
          <a:p>
            <a:pPr marL="285750" lvl="0" indent="-285750">
              <a:buFont typeface="Arial" panose="020B0604020202020204" pitchFamily="34" charset="0"/>
              <a:buChar char="•"/>
            </a:pPr>
            <a:r>
              <a:rPr lang="en-IE" sz="1800" dirty="0">
                <a:latin typeface="Cambria Math" panose="02040503050406030204" pitchFamily="18" charset="0"/>
                <a:ea typeface="Cambria Math" panose="02040503050406030204" pitchFamily="18" charset="0"/>
              </a:rPr>
              <a:t>A* performs weakest, often producing unsafe “safest” routes.</a:t>
            </a:r>
          </a:p>
          <a:p>
            <a:pPr marL="0" lvl="0" indent="0" algn="l" rtl="0">
              <a:spcBef>
                <a:spcPts val="600"/>
              </a:spcBef>
              <a:spcAft>
                <a:spcPts val="0"/>
              </a:spcAft>
              <a:buNone/>
            </a:pPr>
            <a:endParaRPr sz="1800" dirty="0">
              <a:solidFill>
                <a:schemeClr val="dk2"/>
              </a:solidFill>
            </a:endParaRPr>
          </a:p>
        </p:txBody>
      </p:sp>
      <p:sp>
        <p:nvSpPr>
          <p:cNvPr id="169" name="Google Shape;169;p9"/>
          <p:cNvSpPr txBox="1"/>
          <p:nvPr/>
        </p:nvSpPr>
        <p:spPr>
          <a:xfrm>
            <a:off x="4505050" y="572700"/>
            <a:ext cx="4638900" cy="457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b="1" dirty="0">
                <a:solidFill>
                  <a:schemeClr val="dk1"/>
                </a:solidFill>
              </a:rPr>
              <a:t>Future work</a:t>
            </a:r>
            <a:endParaRPr b="1"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GB" sz="1800" dirty="0">
                <a:solidFill>
                  <a:schemeClr val="dk1"/>
                </a:solidFill>
                <a:latin typeface="Cambria Math"/>
                <a:ea typeface="Cambria Math"/>
                <a:cs typeface="Cambria Math"/>
                <a:sym typeface="Cambria Math"/>
              </a:rPr>
              <a:t>•  Integrate time-of-day into shortest/safest route decisions</a:t>
            </a:r>
            <a:endParaRPr sz="1800" dirty="0">
              <a:solidFill>
                <a:schemeClr val="dk1"/>
              </a:solidFill>
              <a:latin typeface="Cambria Math"/>
              <a:ea typeface="Cambria Math"/>
              <a:cs typeface="Cambria Math"/>
              <a:sym typeface="Cambria Math"/>
            </a:endParaRPr>
          </a:p>
          <a:p>
            <a:pPr marL="0" lvl="0" indent="0" algn="l" rtl="0">
              <a:lnSpc>
                <a:spcPct val="100000"/>
              </a:lnSpc>
              <a:spcBef>
                <a:spcPts val="600"/>
              </a:spcBef>
              <a:spcAft>
                <a:spcPts val="0"/>
              </a:spcAft>
              <a:buClr>
                <a:schemeClr val="dk1"/>
              </a:buClr>
              <a:buSzPts val="1100"/>
              <a:buFont typeface="Arial"/>
              <a:buNone/>
            </a:pPr>
            <a:r>
              <a:rPr lang="en-GB" sz="1800" dirty="0">
                <a:solidFill>
                  <a:schemeClr val="dk1"/>
                </a:solidFill>
                <a:latin typeface="Cambria Math"/>
                <a:ea typeface="Cambria Math"/>
                <a:cs typeface="Cambria Math"/>
                <a:sym typeface="Cambria Math"/>
              </a:rPr>
              <a:t>•  Connect a real-time API so routes update as conditions change</a:t>
            </a:r>
            <a:endParaRPr sz="1800" dirty="0">
              <a:solidFill>
                <a:schemeClr val="dk1"/>
              </a:solidFill>
              <a:latin typeface="Cambria Math"/>
              <a:ea typeface="Cambria Math"/>
              <a:cs typeface="Cambria Math"/>
              <a:sym typeface="Cambria Math"/>
            </a:endParaRPr>
          </a:p>
          <a:p>
            <a:pPr marL="0" lvl="0" indent="0" algn="l" rtl="0">
              <a:lnSpc>
                <a:spcPct val="100000"/>
              </a:lnSpc>
              <a:spcBef>
                <a:spcPts val="600"/>
              </a:spcBef>
              <a:spcAft>
                <a:spcPts val="0"/>
              </a:spcAft>
              <a:buClr>
                <a:schemeClr val="dk1"/>
              </a:buClr>
              <a:buSzPts val="1100"/>
              <a:buFont typeface="Arial"/>
              <a:buNone/>
            </a:pPr>
            <a:r>
              <a:rPr lang="en-GB" sz="1800" dirty="0">
                <a:solidFill>
                  <a:schemeClr val="dk1"/>
                </a:solidFill>
                <a:latin typeface="Cambria Math"/>
                <a:ea typeface="Cambria Math"/>
                <a:cs typeface="Cambria Math"/>
                <a:sym typeface="Cambria Math"/>
              </a:rPr>
              <a:t>•  Incorporate Road Safety Authority (RSA) accident data for greater coverage</a:t>
            </a:r>
            <a:endParaRPr sz="1800" dirty="0">
              <a:solidFill>
                <a:schemeClr val="dk1"/>
              </a:solidFill>
              <a:latin typeface="Cambria Math"/>
              <a:ea typeface="Cambria Math"/>
              <a:cs typeface="Cambria Math"/>
              <a:sym typeface="Cambria Math"/>
            </a:endParaRPr>
          </a:p>
          <a:p>
            <a:pPr marL="0" lvl="0" indent="0" algn="l" rtl="0">
              <a:lnSpc>
                <a:spcPct val="100000"/>
              </a:lnSpc>
              <a:spcBef>
                <a:spcPts val="600"/>
              </a:spcBef>
              <a:spcAft>
                <a:spcPts val="0"/>
              </a:spcAft>
              <a:buClr>
                <a:schemeClr val="dk1"/>
              </a:buClr>
              <a:buSzPts val="1100"/>
              <a:buFont typeface="Arial"/>
              <a:buNone/>
            </a:pPr>
            <a:r>
              <a:rPr lang="en-GB" sz="1800" dirty="0">
                <a:solidFill>
                  <a:schemeClr val="dk1"/>
                </a:solidFill>
                <a:latin typeface="Cambria Math"/>
                <a:ea typeface="Cambria Math"/>
                <a:cs typeface="Cambria Math"/>
                <a:sym typeface="Cambria Math"/>
              </a:rPr>
              <a:t>•  Test beyond the four largest cities to diversify results</a:t>
            </a:r>
            <a:endParaRPr sz="1800" dirty="0">
              <a:solidFill>
                <a:schemeClr val="dk1"/>
              </a:solidFill>
              <a:latin typeface="Cambria Math"/>
              <a:ea typeface="Cambria Math"/>
              <a:cs typeface="Cambria Math"/>
              <a:sym typeface="Cambria Math"/>
            </a:endParaRPr>
          </a:p>
          <a:p>
            <a:pPr marL="0" lvl="0" indent="0" algn="l" rtl="0">
              <a:lnSpc>
                <a:spcPct val="100000"/>
              </a:lnSpc>
              <a:spcBef>
                <a:spcPts val="600"/>
              </a:spcBef>
              <a:spcAft>
                <a:spcPts val="0"/>
              </a:spcAft>
              <a:buClr>
                <a:schemeClr val="dk1"/>
              </a:buClr>
              <a:buSzPts val="1100"/>
              <a:buFont typeface="Arial"/>
              <a:buNone/>
            </a:pPr>
            <a:r>
              <a:rPr lang="en-GB" sz="1800" dirty="0">
                <a:solidFill>
                  <a:schemeClr val="dk1"/>
                </a:solidFill>
                <a:latin typeface="Cambria Math"/>
                <a:ea typeface="Cambria Math"/>
                <a:cs typeface="Cambria Math"/>
                <a:sym typeface="Cambria Math"/>
              </a:rPr>
              <a:t>•  Add environmental &amp; temporal factors (weather, roadworks) to routing</a:t>
            </a:r>
            <a:endParaRPr sz="1800" dirty="0">
              <a:solidFill>
                <a:schemeClr val="dk1"/>
              </a:solidFill>
              <a:latin typeface="Cambria Math"/>
              <a:ea typeface="Cambria Math"/>
              <a:cs typeface="Cambria Math"/>
              <a:sym typeface="Cambria Math"/>
            </a:endParaRPr>
          </a:p>
          <a:p>
            <a:pPr marL="0" lvl="0" indent="0" algn="l" rtl="0">
              <a:spcBef>
                <a:spcPts val="600"/>
              </a:spcBef>
              <a:spcAft>
                <a:spcPts val="0"/>
              </a:spcAft>
              <a:buNone/>
            </a:pPr>
            <a:endParaRPr sz="1800" dirty="0">
              <a:solidFill>
                <a:schemeClr val="dk2"/>
              </a:solidFill>
            </a:endParaRPr>
          </a:p>
        </p:txBody>
      </p:sp>
      <p:sp>
        <p:nvSpPr>
          <p:cNvPr id="2" name="Rectangle 1">
            <a:extLst>
              <a:ext uri="{FF2B5EF4-FFF2-40B4-BE49-F238E27FC236}">
                <a16:creationId xmlns:a16="http://schemas.microsoft.com/office/drawing/2014/main" id="{0B5C610F-822E-8190-F6C2-D38114B39B29}"/>
              </a:ext>
            </a:extLst>
          </p:cNvPr>
          <p:cNvSpPr/>
          <p:nvPr/>
        </p:nvSpPr>
        <p:spPr>
          <a:xfrm>
            <a:off x="57150" y="2774950"/>
            <a:ext cx="4286249" cy="1631950"/>
          </a:xfrm>
          <a:prstGeom prst="rect">
            <a:avLst/>
          </a:prstGeom>
          <a:noFill/>
          <a:ln>
            <a:solidFill>
              <a:srgbClr val="FFC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9"/>
                                        </p:tgtEl>
                                        <p:attrNameLst>
                                          <p:attrName>style.visibility</p:attrName>
                                        </p:attrNameLst>
                                      </p:cBhvr>
                                      <p:to>
                                        <p:strVal val="visible"/>
                                      </p:to>
                                    </p:set>
                                    <p:animEffect transition="in" filter="fade">
                                      <p:cBhvr>
                                        <p:cTn id="20"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p:bldP spid="168" grpId="0"/>
      <p:bldP spid="169" grpId="0"/>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409b05087e7_0_5"/>
          <p:cNvSpPr txBox="1">
            <a:spLocks noGrp="1"/>
          </p:cNvSpPr>
          <p:nvPr>
            <p:ph type="title"/>
          </p:nvPr>
        </p:nvSpPr>
        <p:spPr>
          <a:xfrm>
            <a:off x="0" y="0"/>
            <a:ext cx="9144000" cy="53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dirty="0">
                <a:solidFill>
                  <a:srgbClr val="0000FF"/>
                </a:solidFill>
                <a:latin typeface="Cambria Math"/>
                <a:ea typeface="Cambria Math"/>
                <a:cs typeface="Cambria Math"/>
                <a:sym typeface="Cambria Math"/>
              </a:rPr>
              <a:t>Challenges &amp; Responsibilities</a:t>
            </a:r>
            <a:endParaRPr dirty="0">
              <a:solidFill>
                <a:srgbClr val="0000FF"/>
              </a:solidFill>
              <a:latin typeface="Cambria Math"/>
              <a:ea typeface="Cambria Math"/>
              <a:cs typeface="Cambria Math"/>
              <a:sym typeface="Cambria Math"/>
            </a:endParaRPr>
          </a:p>
        </p:txBody>
      </p:sp>
      <p:sp>
        <p:nvSpPr>
          <p:cNvPr id="175" name="Google Shape;175;g409b05087e7_0_5"/>
          <p:cNvSpPr txBox="1">
            <a:spLocks noGrp="1"/>
          </p:cNvSpPr>
          <p:nvPr>
            <p:ph type="body" idx="1"/>
          </p:nvPr>
        </p:nvSpPr>
        <p:spPr>
          <a:xfrm>
            <a:off x="0" y="537750"/>
            <a:ext cx="9144000" cy="4605900"/>
          </a:xfrm>
          <a:prstGeom prst="rect">
            <a:avLst/>
          </a:prstGeom>
        </p:spPr>
        <p:txBody>
          <a:bodyPr spcFirstLastPara="1" wrap="square" lIns="91425" tIns="91425" rIns="91425" bIns="91425" anchor="t" anchorCtr="0">
            <a:normAutofit/>
          </a:bodyPr>
          <a:lstStyle/>
          <a:p>
            <a:pPr lvl="0">
              <a:lnSpc>
                <a:spcPct val="100000"/>
              </a:lnSpc>
              <a:buClr>
                <a:schemeClr val="dk1"/>
              </a:buClr>
              <a:buFont typeface="Cambria Math"/>
              <a:buChar char="-"/>
            </a:pPr>
            <a:r>
              <a:rPr lang="en-GB" dirty="0">
                <a:solidFill>
                  <a:schemeClr val="dk1"/>
                </a:solidFill>
                <a:latin typeface="Cambria Math"/>
                <a:ea typeface="Cambria Math"/>
                <a:cs typeface="Cambria Math"/>
                <a:sym typeface="Cambria Math"/>
              </a:rPr>
              <a:t>OSM alignment issues</a:t>
            </a:r>
          </a:p>
          <a:p>
            <a:pPr lvl="0">
              <a:lnSpc>
                <a:spcPct val="100000"/>
              </a:lnSpc>
              <a:buClr>
                <a:schemeClr val="dk1"/>
              </a:buClr>
              <a:buFont typeface="Cambria Math"/>
              <a:buChar char="-"/>
            </a:pPr>
            <a:r>
              <a:rPr lang="en-GB" dirty="0">
                <a:solidFill>
                  <a:schemeClr val="dk1"/>
                </a:solidFill>
                <a:latin typeface="Cambria Math"/>
                <a:ea typeface="Cambria Math"/>
                <a:cs typeface="Cambria Math"/>
                <a:sym typeface="Cambria Math"/>
              </a:rPr>
              <a:t>Server instability</a:t>
            </a:r>
          </a:p>
          <a:p>
            <a:pPr lvl="0">
              <a:lnSpc>
                <a:spcPct val="100000"/>
              </a:lnSpc>
              <a:buClr>
                <a:schemeClr val="dk1"/>
              </a:buClr>
              <a:buFont typeface="Cambria Math"/>
              <a:buChar char="-"/>
            </a:pPr>
            <a:r>
              <a:rPr lang="en-GB" dirty="0">
                <a:solidFill>
                  <a:schemeClr val="dk1"/>
                </a:solidFill>
                <a:latin typeface="Cambria Math"/>
                <a:ea typeface="Cambria Math"/>
                <a:cs typeface="Cambria Math"/>
                <a:sym typeface="Cambria Math"/>
              </a:rPr>
              <a:t>Occasional long runtimes</a:t>
            </a:r>
          </a:p>
          <a:p>
            <a:pPr lvl="0">
              <a:lnSpc>
                <a:spcPct val="100000"/>
              </a:lnSpc>
              <a:buClr>
                <a:schemeClr val="dk1"/>
              </a:buClr>
              <a:buFont typeface="Cambria Math"/>
              <a:buChar char="-"/>
            </a:pPr>
            <a:r>
              <a:rPr lang="en-GB" dirty="0">
                <a:solidFill>
                  <a:schemeClr val="dk1"/>
                </a:solidFill>
                <a:latin typeface="Cambria Math"/>
                <a:ea typeface="Cambria Math"/>
                <a:cs typeface="Cambria Math"/>
                <a:sym typeface="Cambria Math"/>
              </a:rPr>
              <a:t>Ensuring pure swarming behaviour</a:t>
            </a:r>
          </a:p>
          <a:p>
            <a:pPr lvl="0">
              <a:lnSpc>
                <a:spcPct val="100000"/>
              </a:lnSpc>
              <a:buClr>
                <a:schemeClr val="dk1"/>
              </a:buClr>
              <a:buFont typeface="Cambria Math"/>
              <a:buChar char="-"/>
            </a:pPr>
            <a:r>
              <a:rPr lang="en-GB" dirty="0">
                <a:solidFill>
                  <a:schemeClr val="dk1"/>
                </a:solidFill>
                <a:latin typeface="Cambria Math"/>
                <a:ea typeface="Cambria Math"/>
                <a:cs typeface="Cambria Math"/>
                <a:sym typeface="Cambria Math"/>
              </a:rPr>
              <a:t>Safety scoring limitations</a:t>
            </a:r>
          </a:p>
          <a:p>
            <a:pPr lvl="0">
              <a:lnSpc>
                <a:spcPct val="100000"/>
              </a:lnSpc>
              <a:buClr>
                <a:schemeClr val="dk1"/>
              </a:buClr>
              <a:buFont typeface="Cambria Math"/>
              <a:buChar char="-"/>
            </a:pPr>
            <a:r>
              <a:rPr lang="en-GB" dirty="0">
                <a:solidFill>
                  <a:schemeClr val="dk1"/>
                </a:solidFill>
                <a:latin typeface="Cambria Math"/>
                <a:ea typeface="Cambria Math"/>
                <a:cs typeface="Cambria Math"/>
                <a:sym typeface="Cambria Math"/>
              </a:rPr>
              <a:t>Route sanity testing </a:t>
            </a:r>
          </a:p>
          <a:p>
            <a:pPr marL="114300" lvl="0" indent="0">
              <a:lnSpc>
                <a:spcPct val="100000"/>
              </a:lnSpc>
              <a:buClr>
                <a:schemeClr val="dk1"/>
              </a:buClr>
              <a:buNone/>
            </a:pPr>
            <a:endParaRPr lang="en-GB" dirty="0">
              <a:solidFill>
                <a:schemeClr val="dk1"/>
              </a:solidFill>
              <a:latin typeface="Cambria Math"/>
              <a:ea typeface="Cambria Math"/>
              <a:sym typeface="Cambria Math"/>
            </a:endParaRPr>
          </a:p>
          <a:p>
            <a:pPr lvl="0">
              <a:buClr>
                <a:schemeClr val="tx1"/>
              </a:buClr>
            </a:pPr>
            <a:r>
              <a:rPr lang="en-IE" b="1" dirty="0">
                <a:solidFill>
                  <a:schemeClr val="tx1"/>
                </a:solidFill>
                <a:latin typeface="Cambria Math" panose="02040503050406030204" pitchFamily="18" charset="0"/>
                <a:ea typeface="Cambria Math" panose="02040503050406030204" pitchFamily="18" charset="0"/>
              </a:rPr>
              <a:t>Ben</a:t>
            </a:r>
            <a:r>
              <a:rPr lang="en-IE" dirty="0">
                <a:solidFill>
                  <a:schemeClr val="tx1"/>
                </a:solidFill>
                <a:latin typeface="Cambria Math" panose="02040503050406030204" pitchFamily="18" charset="0"/>
                <a:ea typeface="Cambria Math" panose="02040503050406030204" pitchFamily="18" charset="0"/>
              </a:rPr>
              <a:t> - Project idea; Solution framework design; Sourcing &amp; cleaning collision/OSM data; Map‑based route selection; Algorithm implementation &amp; testing.</a:t>
            </a:r>
          </a:p>
          <a:p>
            <a:pPr marL="114300" lvl="0" indent="0">
              <a:buClr>
                <a:schemeClr val="tx1"/>
              </a:buClr>
              <a:buNone/>
            </a:pPr>
            <a:endParaRPr lang="en-IE" dirty="0">
              <a:solidFill>
                <a:schemeClr val="tx1"/>
              </a:solidFill>
              <a:latin typeface="Cambria Math" panose="02040503050406030204" pitchFamily="18" charset="0"/>
              <a:ea typeface="Cambria Math" panose="02040503050406030204" pitchFamily="18" charset="0"/>
            </a:endParaRPr>
          </a:p>
          <a:p>
            <a:pPr lvl="0">
              <a:buClr>
                <a:schemeClr val="tx1"/>
              </a:buClr>
            </a:pPr>
            <a:r>
              <a:rPr lang="en-IE" b="1" dirty="0">
                <a:solidFill>
                  <a:schemeClr val="tx1"/>
                </a:solidFill>
                <a:latin typeface="Cambria Math" panose="02040503050406030204" pitchFamily="18" charset="0"/>
                <a:ea typeface="Cambria Math" panose="02040503050406030204" pitchFamily="18" charset="0"/>
              </a:rPr>
              <a:t>Hemandh</a:t>
            </a:r>
            <a:r>
              <a:rPr lang="en-IE" dirty="0">
                <a:solidFill>
                  <a:schemeClr val="tx1"/>
                </a:solidFill>
                <a:latin typeface="Cambria Math" panose="02040503050406030204" pitchFamily="18" charset="0"/>
                <a:ea typeface="Cambria Math" panose="02040503050406030204" pitchFamily="18" charset="0"/>
              </a:rPr>
              <a:t> - Research of optimisation methods &amp; technical foundations; Algorithm implementation &amp; testing; Algorithm behaviour &amp; performance differences.</a:t>
            </a:r>
          </a:p>
          <a:p>
            <a:pPr marL="114300" lvl="0" indent="0">
              <a:lnSpc>
                <a:spcPct val="100000"/>
              </a:lnSpc>
              <a:buClr>
                <a:schemeClr val="dk1"/>
              </a:buClr>
              <a:buNone/>
            </a:pPr>
            <a:endParaRPr dirty="0">
              <a:solidFill>
                <a:schemeClr val="dk1"/>
              </a:solidFill>
              <a:latin typeface="Cambria Math"/>
              <a:ea typeface="Cambria Math"/>
              <a:cs typeface="Cambria Math"/>
              <a:sym typeface="Cambria Math"/>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175">
                                            <p:txEl>
                                              <p:pRg st="0" end="0"/>
                                            </p:txEl>
                                          </p:spTgt>
                                        </p:tgtEl>
                                        <p:attrNameLst>
                                          <p:attrName>style.visibility</p:attrName>
                                        </p:attrNameLst>
                                      </p:cBhvr>
                                      <p:to>
                                        <p:strVal val="visible"/>
                                      </p:to>
                                    </p:set>
                                    <p:animEffect transition="in" filter="circle(in)">
                                      <p:cBhvr>
                                        <p:cTn id="11" dur="2000"/>
                                        <p:tgtEl>
                                          <p:spTgt spid="175">
                                            <p:txEl>
                                              <p:pRg st="0" end="0"/>
                                            </p:txEl>
                                          </p:spTgt>
                                        </p:tgtEl>
                                      </p:cBhvr>
                                    </p:animEffect>
                                  </p:childTnLst>
                                </p:cTn>
                              </p:par>
                              <p:par>
                                <p:cTn id="12" presetID="6" presetClass="entr" presetSubtype="16" fill="hold" nodeType="withEffect">
                                  <p:stCondLst>
                                    <p:cond delay="0"/>
                                  </p:stCondLst>
                                  <p:childTnLst>
                                    <p:set>
                                      <p:cBhvr>
                                        <p:cTn id="13" dur="1" fill="hold">
                                          <p:stCondLst>
                                            <p:cond delay="0"/>
                                          </p:stCondLst>
                                        </p:cTn>
                                        <p:tgtEl>
                                          <p:spTgt spid="175">
                                            <p:txEl>
                                              <p:pRg st="1" end="1"/>
                                            </p:txEl>
                                          </p:spTgt>
                                        </p:tgtEl>
                                        <p:attrNameLst>
                                          <p:attrName>style.visibility</p:attrName>
                                        </p:attrNameLst>
                                      </p:cBhvr>
                                      <p:to>
                                        <p:strVal val="visible"/>
                                      </p:to>
                                    </p:set>
                                    <p:animEffect transition="in" filter="circle(in)">
                                      <p:cBhvr>
                                        <p:cTn id="14" dur="2000"/>
                                        <p:tgtEl>
                                          <p:spTgt spid="175">
                                            <p:txEl>
                                              <p:pRg st="1" end="1"/>
                                            </p:txEl>
                                          </p:spTgt>
                                        </p:tgtEl>
                                      </p:cBhvr>
                                    </p:animEffect>
                                  </p:childTnLst>
                                </p:cTn>
                              </p:par>
                              <p:par>
                                <p:cTn id="15" presetID="6" presetClass="entr" presetSubtype="16" fill="hold" nodeType="withEffect">
                                  <p:stCondLst>
                                    <p:cond delay="0"/>
                                  </p:stCondLst>
                                  <p:childTnLst>
                                    <p:set>
                                      <p:cBhvr>
                                        <p:cTn id="16" dur="1" fill="hold">
                                          <p:stCondLst>
                                            <p:cond delay="0"/>
                                          </p:stCondLst>
                                        </p:cTn>
                                        <p:tgtEl>
                                          <p:spTgt spid="175">
                                            <p:txEl>
                                              <p:pRg st="2" end="2"/>
                                            </p:txEl>
                                          </p:spTgt>
                                        </p:tgtEl>
                                        <p:attrNameLst>
                                          <p:attrName>style.visibility</p:attrName>
                                        </p:attrNameLst>
                                      </p:cBhvr>
                                      <p:to>
                                        <p:strVal val="visible"/>
                                      </p:to>
                                    </p:set>
                                    <p:animEffect transition="in" filter="circle(in)">
                                      <p:cBhvr>
                                        <p:cTn id="17" dur="2000"/>
                                        <p:tgtEl>
                                          <p:spTgt spid="175">
                                            <p:txEl>
                                              <p:pRg st="2" end="2"/>
                                            </p:txEl>
                                          </p:spTgt>
                                        </p:tgtEl>
                                      </p:cBhvr>
                                    </p:animEffect>
                                  </p:childTnLst>
                                </p:cTn>
                              </p:par>
                              <p:par>
                                <p:cTn id="18" presetID="6" presetClass="entr" presetSubtype="16" fill="hold" nodeType="withEffect">
                                  <p:stCondLst>
                                    <p:cond delay="0"/>
                                  </p:stCondLst>
                                  <p:childTnLst>
                                    <p:set>
                                      <p:cBhvr>
                                        <p:cTn id="19" dur="1" fill="hold">
                                          <p:stCondLst>
                                            <p:cond delay="0"/>
                                          </p:stCondLst>
                                        </p:cTn>
                                        <p:tgtEl>
                                          <p:spTgt spid="175">
                                            <p:txEl>
                                              <p:pRg st="3" end="3"/>
                                            </p:txEl>
                                          </p:spTgt>
                                        </p:tgtEl>
                                        <p:attrNameLst>
                                          <p:attrName>style.visibility</p:attrName>
                                        </p:attrNameLst>
                                      </p:cBhvr>
                                      <p:to>
                                        <p:strVal val="visible"/>
                                      </p:to>
                                    </p:set>
                                    <p:animEffect transition="in" filter="circle(in)">
                                      <p:cBhvr>
                                        <p:cTn id="20" dur="2000"/>
                                        <p:tgtEl>
                                          <p:spTgt spid="175">
                                            <p:txEl>
                                              <p:pRg st="3" end="3"/>
                                            </p:txEl>
                                          </p:spTgt>
                                        </p:tgtEl>
                                      </p:cBhvr>
                                    </p:animEffect>
                                  </p:childTnLst>
                                </p:cTn>
                              </p:par>
                              <p:par>
                                <p:cTn id="21" presetID="6" presetClass="entr" presetSubtype="16" fill="hold" nodeType="withEffect">
                                  <p:stCondLst>
                                    <p:cond delay="0"/>
                                  </p:stCondLst>
                                  <p:childTnLst>
                                    <p:set>
                                      <p:cBhvr>
                                        <p:cTn id="22" dur="1" fill="hold">
                                          <p:stCondLst>
                                            <p:cond delay="0"/>
                                          </p:stCondLst>
                                        </p:cTn>
                                        <p:tgtEl>
                                          <p:spTgt spid="175">
                                            <p:txEl>
                                              <p:pRg st="4" end="4"/>
                                            </p:txEl>
                                          </p:spTgt>
                                        </p:tgtEl>
                                        <p:attrNameLst>
                                          <p:attrName>style.visibility</p:attrName>
                                        </p:attrNameLst>
                                      </p:cBhvr>
                                      <p:to>
                                        <p:strVal val="visible"/>
                                      </p:to>
                                    </p:set>
                                    <p:animEffect transition="in" filter="circle(in)">
                                      <p:cBhvr>
                                        <p:cTn id="23" dur="2000"/>
                                        <p:tgtEl>
                                          <p:spTgt spid="175">
                                            <p:txEl>
                                              <p:pRg st="4" end="4"/>
                                            </p:txEl>
                                          </p:spTgt>
                                        </p:tgtEl>
                                      </p:cBhvr>
                                    </p:animEffect>
                                  </p:childTnLst>
                                </p:cTn>
                              </p:par>
                              <p:par>
                                <p:cTn id="24" presetID="6" presetClass="entr" presetSubtype="16" fill="hold" nodeType="withEffect">
                                  <p:stCondLst>
                                    <p:cond delay="0"/>
                                  </p:stCondLst>
                                  <p:childTnLst>
                                    <p:set>
                                      <p:cBhvr>
                                        <p:cTn id="25" dur="1" fill="hold">
                                          <p:stCondLst>
                                            <p:cond delay="0"/>
                                          </p:stCondLst>
                                        </p:cTn>
                                        <p:tgtEl>
                                          <p:spTgt spid="175">
                                            <p:txEl>
                                              <p:pRg st="5" end="5"/>
                                            </p:txEl>
                                          </p:spTgt>
                                        </p:tgtEl>
                                        <p:attrNameLst>
                                          <p:attrName>style.visibility</p:attrName>
                                        </p:attrNameLst>
                                      </p:cBhvr>
                                      <p:to>
                                        <p:strVal val="visible"/>
                                      </p:to>
                                    </p:set>
                                    <p:animEffect transition="in" filter="circle(in)">
                                      <p:cBhvr>
                                        <p:cTn id="26" dur="2000"/>
                                        <p:tgtEl>
                                          <p:spTgt spid="17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75">
                                            <p:txEl>
                                              <p:pRg st="7" end="7"/>
                                            </p:txEl>
                                          </p:spTgt>
                                        </p:tgtEl>
                                        <p:attrNameLst>
                                          <p:attrName>style.visibility</p:attrName>
                                        </p:attrNameLst>
                                      </p:cBhvr>
                                      <p:to>
                                        <p:strVal val="visible"/>
                                      </p:to>
                                    </p:set>
                                    <p:animEffect transition="in" filter="circle(in)">
                                      <p:cBhvr>
                                        <p:cTn id="31" dur="2000"/>
                                        <p:tgtEl>
                                          <p:spTgt spid="175">
                                            <p:txEl>
                                              <p:pRg st="7" end="7"/>
                                            </p:txEl>
                                          </p:spTgt>
                                        </p:tgtEl>
                                      </p:cBhvr>
                                    </p:animEffect>
                                  </p:childTnLst>
                                </p:cTn>
                              </p:par>
                              <p:par>
                                <p:cTn id="32" presetID="6" presetClass="entr" presetSubtype="16" fill="hold" nodeType="withEffect">
                                  <p:stCondLst>
                                    <p:cond delay="0"/>
                                  </p:stCondLst>
                                  <p:childTnLst>
                                    <p:set>
                                      <p:cBhvr>
                                        <p:cTn id="33" dur="1" fill="hold">
                                          <p:stCondLst>
                                            <p:cond delay="0"/>
                                          </p:stCondLst>
                                        </p:cTn>
                                        <p:tgtEl>
                                          <p:spTgt spid="175">
                                            <p:txEl>
                                              <p:pRg st="9" end="9"/>
                                            </p:txEl>
                                          </p:spTgt>
                                        </p:tgtEl>
                                        <p:attrNameLst>
                                          <p:attrName>style.visibility</p:attrName>
                                        </p:attrNameLst>
                                      </p:cBhvr>
                                      <p:to>
                                        <p:strVal val="visible"/>
                                      </p:to>
                                    </p:set>
                                    <p:animEffect transition="in" filter="circle(in)">
                                      <p:cBhvr>
                                        <p:cTn id="34" dur="2000"/>
                                        <p:tgtEl>
                                          <p:spTgt spid="1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title"/>
          </p:nvPr>
        </p:nvSpPr>
        <p:spPr>
          <a:xfrm>
            <a:off x="0" y="0"/>
            <a:ext cx="9144000" cy="315533"/>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990"/>
              <a:buNone/>
            </a:pPr>
            <a:r>
              <a:rPr lang="en-GB" dirty="0">
                <a:solidFill>
                  <a:srgbClr val="0000FF"/>
                </a:solidFill>
                <a:latin typeface="Cambria Math"/>
                <a:ea typeface="Cambria Math"/>
                <a:cs typeface="Cambria Math"/>
                <a:sym typeface="Cambria Math"/>
              </a:rPr>
              <a:t>References</a:t>
            </a:r>
            <a:endParaRPr dirty="0">
              <a:solidFill>
                <a:srgbClr val="0000FF"/>
              </a:solidFill>
              <a:latin typeface="Cambria Math"/>
              <a:ea typeface="Cambria Math"/>
              <a:cs typeface="Cambria Math"/>
              <a:sym typeface="Cambria Math"/>
            </a:endParaRPr>
          </a:p>
        </p:txBody>
      </p:sp>
      <p:sp>
        <p:nvSpPr>
          <p:cNvPr id="181" name="Google Shape;181;p10"/>
          <p:cNvSpPr txBox="1">
            <a:spLocks noGrp="1"/>
          </p:cNvSpPr>
          <p:nvPr>
            <p:ph type="body" idx="1"/>
          </p:nvPr>
        </p:nvSpPr>
        <p:spPr>
          <a:xfrm>
            <a:off x="0" y="412124"/>
            <a:ext cx="9144000" cy="4731376"/>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GB" sz="1100" dirty="0">
                <a:solidFill>
                  <a:schemeClr val="tx1"/>
                </a:solidFill>
                <a:latin typeface="Cambria Math"/>
                <a:ea typeface="Cambria Math"/>
                <a:cs typeface="Cambria Math"/>
                <a:sym typeface="Cambria Math"/>
              </a:rPr>
              <a:t>[1] </a:t>
            </a:r>
            <a:r>
              <a:rPr lang="en-GB" sz="1100" dirty="0" err="1">
                <a:solidFill>
                  <a:schemeClr val="tx1"/>
                </a:solidFill>
                <a:latin typeface="Cambria Math"/>
                <a:ea typeface="Cambria Math"/>
                <a:cs typeface="Cambria Math"/>
                <a:sym typeface="Cambria Math"/>
              </a:rPr>
              <a:t>bru.webadmin</a:t>
            </a:r>
            <a:r>
              <a:rPr lang="en-GB" sz="1100" dirty="0">
                <a:solidFill>
                  <a:schemeClr val="tx1"/>
                </a:solidFill>
                <a:latin typeface="Cambria Math"/>
                <a:ea typeface="Cambria Math"/>
                <a:cs typeface="Cambria Math"/>
                <a:sym typeface="Cambria Math"/>
              </a:rPr>
              <a:t>, “Shared e-scooter and e-bike injury risk continues downward trend across Europe in 2025 - Micro-mobility for Europe,” Apr. 2026. </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[2] E. Fernandez, “Electric Scooter and Bike Accidents Are Soaring Across the U.S.,” July 2024. </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[3] G. Yannis et al., “Safer Micromobility: Technical Background Report,” 2024. </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[4] S. Herr, “2024 State of the Industry Report,” Aug. 2025. </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[5] T. </a:t>
            </a:r>
            <a:r>
              <a:rPr lang="en-GB" sz="1100" dirty="0" err="1">
                <a:solidFill>
                  <a:schemeClr val="tx1"/>
                </a:solidFill>
                <a:latin typeface="Cambria Math"/>
                <a:ea typeface="Cambria Math"/>
                <a:cs typeface="Cambria Math"/>
                <a:sym typeface="Cambria Math"/>
              </a:rPr>
              <a:t>Tamagusko</a:t>
            </a:r>
            <a:r>
              <a:rPr lang="en-GB" sz="1100" dirty="0">
                <a:solidFill>
                  <a:schemeClr val="tx1"/>
                </a:solidFill>
                <a:latin typeface="Cambria Math"/>
                <a:ea typeface="Cambria Math"/>
                <a:cs typeface="Cambria Math"/>
                <a:sym typeface="Cambria Math"/>
              </a:rPr>
              <a:t> </a:t>
            </a:r>
            <a:r>
              <a:rPr lang="en-GB" sz="1100" i="1" dirty="0">
                <a:solidFill>
                  <a:schemeClr val="tx1"/>
                </a:solidFill>
                <a:latin typeface="Cambria Math"/>
                <a:ea typeface="Cambria Math"/>
                <a:cs typeface="Cambria Math"/>
                <a:sym typeface="Cambria Math"/>
              </a:rPr>
              <a:t>et al.</a:t>
            </a:r>
            <a:r>
              <a:rPr lang="en-GB" sz="1100" dirty="0">
                <a:solidFill>
                  <a:schemeClr val="tx1"/>
                </a:solidFill>
                <a:latin typeface="Cambria Math"/>
                <a:ea typeface="Cambria Math"/>
                <a:cs typeface="Cambria Math"/>
                <a:sym typeface="Cambria Math"/>
              </a:rPr>
              <a:t>, “Data-Driven Approach for Urban Micromobility Enhancement through  Safety Mapping and Intelligent Route Planning,” </a:t>
            </a:r>
            <a:r>
              <a:rPr lang="en-GB" sz="1100" i="1" dirty="0">
                <a:solidFill>
                  <a:schemeClr val="tx1"/>
                </a:solidFill>
                <a:latin typeface="Cambria Math"/>
                <a:ea typeface="Cambria Math"/>
                <a:cs typeface="Cambria Math"/>
                <a:sym typeface="Cambria Math"/>
              </a:rPr>
              <a:t>Smart cities</a:t>
            </a:r>
            <a:r>
              <a:rPr lang="en-GB" sz="1100" dirty="0">
                <a:solidFill>
                  <a:schemeClr val="tx1"/>
                </a:solidFill>
                <a:latin typeface="Cambria Math"/>
                <a:ea typeface="Cambria Math"/>
                <a:cs typeface="Cambria Math"/>
                <a:sym typeface="Cambria Math"/>
              </a:rPr>
              <a:t>, vol. 6, no. 4, pp. 2035–2056, Aug.  2023</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[6] M. </a:t>
            </a:r>
            <a:r>
              <a:rPr lang="en-GB" sz="1100" dirty="0" err="1">
                <a:solidFill>
                  <a:schemeClr val="tx1"/>
                </a:solidFill>
                <a:latin typeface="Cambria Math"/>
                <a:ea typeface="Cambria Math"/>
                <a:cs typeface="Cambria Math"/>
                <a:sym typeface="Cambria Math"/>
              </a:rPr>
              <a:t>Zakhem</a:t>
            </a:r>
            <a:r>
              <a:rPr lang="en-GB" sz="1100" dirty="0">
                <a:solidFill>
                  <a:schemeClr val="tx1"/>
                </a:solidFill>
                <a:latin typeface="Cambria Math"/>
                <a:ea typeface="Cambria Math"/>
                <a:cs typeface="Cambria Math"/>
                <a:sym typeface="Cambria Math"/>
              </a:rPr>
              <a:t> and J. Smith‐Colin, “An E-scooter route assignment framework to improve user  safety, comfort and compliance with city rules and regulations,” </a:t>
            </a:r>
            <a:r>
              <a:rPr lang="en-GB" sz="1100" i="1" dirty="0">
                <a:solidFill>
                  <a:schemeClr val="tx1"/>
                </a:solidFill>
                <a:latin typeface="Cambria Math"/>
                <a:ea typeface="Cambria Math"/>
                <a:cs typeface="Cambria Math"/>
                <a:sym typeface="Cambria Math"/>
              </a:rPr>
              <a:t>Transportation Research Part A:  Policy &amp; Practice</a:t>
            </a:r>
            <a:r>
              <a:rPr lang="en-GB" sz="1100" dirty="0">
                <a:solidFill>
                  <a:schemeClr val="tx1"/>
                </a:solidFill>
                <a:latin typeface="Cambria Math"/>
                <a:ea typeface="Cambria Math"/>
                <a:cs typeface="Cambria Math"/>
                <a:sym typeface="Cambria Math"/>
              </a:rPr>
              <a:t>, vol 179, pp. 103930–103930, 2024 </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[7] T. Luo, et al, “An improved levy chaotic particle swarm optimization algorithm for energy efficient cluster routing scheme in industrial wireless sensor networks,” </a:t>
            </a:r>
            <a:r>
              <a:rPr lang="en-GB" sz="1100" i="1" dirty="0">
                <a:solidFill>
                  <a:schemeClr val="tx1"/>
                </a:solidFill>
                <a:latin typeface="Cambria Math"/>
                <a:ea typeface="Cambria Math"/>
                <a:cs typeface="Cambria Math"/>
                <a:sym typeface="Cambria Math"/>
              </a:rPr>
              <a:t>Expert Systems with Applications</a:t>
            </a:r>
            <a:r>
              <a:rPr lang="en-GB" sz="1100" dirty="0">
                <a:solidFill>
                  <a:schemeClr val="tx1"/>
                </a:solidFill>
                <a:latin typeface="Cambria Math"/>
                <a:ea typeface="Cambria Math"/>
                <a:cs typeface="Cambria Math"/>
                <a:sym typeface="Cambria Math"/>
              </a:rPr>
              <a:t>, vol. 241, p. 122780, Nov. 2023</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[8] C. Liu </a:t>
            </a:r>
            <a:r>
              <a:rPr lang="en-GB" sz="1100" i="1" dirty="0">
                <a:solidFill>
                  <a:schemeClr val="tx1"/>
                </a:solidFill>
                <a:latin typeface="Cambria Math"/>
                <a:ea typeface="Cambria Math"/>
                <a:cs typeface="Cambria Math"/>
                <a:sym typeface="Cambria Math"/>
              </a:rPr>
              <a:t>et al.</a:t>
            </a:r>
            <a:r>
              <a:rPr lang="en-GB" sz="1100" dirty="0">
                <a:solidFill>
                  <a:schemeClr val="tx1"/>
                </a:solidFill>
                <a:latin typeface="Cambria Math"/>
                <a:ea typeface="Cambria Math"/>
                <a:cs typeface="Cambria Math"/>
                <a:sym typeface="Cambria Math"/>
              </a:rPr>
              <a:t>, “AI-based 3D pipe automation layout with enhanced ant colony optimization  algorithm,” </a:t>
            </a:r>
            <a:r>
              <a:rPr lang="en-GB" sz="1100" i="1" dirty="0">
                <a:solidFill>
                  <a:schemeClr val="tx1"/>
                </a:solidFill>
                <a:latin typeface="Cambria Math"/>
                <a:ea typeface="Cambria Math"/>
                <a:cs typeface="Cambria Math"/>
                <a:sym typeface="Cambria Math"/>
              </a:rPr>
              <a:t>Automation in Construction</a:t>
            </a:r>
            <a:r>
              <a:rPr lang="en-GB" sz="1100" dirty="0">
                <a:solidFill>
                  <a:schemeClr val="tx1"/>
                </a:solidFill>
                <a:latin typeface="Cambria Math"/>
                <a:ea typeface="Cambria Math"/>
                <a:cs typeface="Cambria Math"/>
                <a:sym typeface="Cambria Math"/>
              </a:rPr>
              <a:t>, vol. 167, pp. 105689–105689, Nov. 2024</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[9] R. Mukha, et al, “Method and Software for Managing HR Processes of a Company using the Wolf Pack Algorithm,” </a:t>
            </a:r>
            <a:r>
              <a:rPr lang="en-GB" sz="1100" i="1" dirty="0">
                <a:solidFill>
                  <a:schemeClr val="tx1"/>
                </a:solidFill>
                <a:latin typeface="Cambria Math"/>
                <a:ea typeface="Cambria Math"/>
                <a:cs typeface="Cambria Math"/>
                <a:sym typeface="Cambria Math"/>
              </a:rPr>
              <a:t>2024 14th International Conference on Advanced Computer Information Technologies (ACIT)</a:t>
            </a:r>
            <a:r>
              <a:rPr lang="en-GB" sz="1100" dirty="0">
                <a:solidFill>
                  <a:schemeClr val="tx1"/>
                </a:solidFill>
                <a:latin typeface="Cambria Math"/>
                <a:ea typeface="Cambria Math"/>
                <a:cs typeface="Cambria Math"/>
                <a:sym typeface="Cambria Math"/>
              </a:rPr>
              <a:t>, pp. 376–379, 2024</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0"/>
              </a:spcAft>
              <a:buSzPts val="1800"/>
              <a:buNone/>
            </a:pPr>
            <a:r>
              <a:rPr lang="en-GB" sz="1100" dirty="0">
                <a:solidFill>
                  <a:schemeClr val="tx1"/>
                </a:solidFill>
                <a:latin typeface="Cambria Math"/>
                <a:ea typeface="Cambria Math"/>
                <a:cs typeface="Cambria Math"/>
                <a:sym typeface="Cambria Math"/>
              </a:rPr>
              <a:t>[10] L. Yang, J. Yu, S. Yang, B. Wang, B. J. Nelson, and L. Zhang, “A Survey on Swarm </a:t>
            </a:r>
            <a:r>
              <a:rPr lang="en-GB" sz="1100" dirty="0" err="1">
                <a:solidFill>
                  <a:schemeClr val="tx1"/>
                </a:solidFill>
                <a:latin typeface="Cambria Math"/>
                <a:ea typeface="Cambria Math"/>
                <a:cs typeface="Cambria Math"/>
                <a:sym typeface="Cambria Math"/>
              </a:rPr>
              <a:t>Microrobotics</a:t>
            </a:r>
            <a:r>
              <a:rPr lang="en-GB" sz="1100" dirty="0">
                <a:solidFill>
                  <a:schemeClr val="tx1"/>
                </a:solidFill>
                <a:latin typeface="Cambria Math"/>
                <a:ea typeface="Cambria Math"/>
                <a:cs typeface="Cambria Math"/>
                <a:sym typeface="Cambria Math"/>
              </a:rPr>
              <a:t>,” </a:t>
            </a:r>
            <a:r>
              <a:rPr lang="en-GB" sz="1100" i="1" dirty="0">
                <a:solidFill>
                  <a:schemeClr val="tx1"/>
                </a:solidFill>
                <a:latin typeface="Cambria Math"/>
                <a:ea typeface="Cambria Math"/>
                <a:cs typeface="Cambria Math"/>
                <a:sym typeface="Cambria Math"/>
              </a:rPr>
              <a:t>IEEE transactions on robotics</a:t>
            </a:r>
            <a:r>
              <a:rPr lang="en-GB" sz="1100" dirty="0">
                <a:solidFill>
                  <a:schemeClr val="tx1"/>
                </a:solidFill>
                <a:latin typeface="Cambria Math"/>
                <a:ea typeface="Cambria Math"/>
                <a:cs typeface="Cambria Math"/>
                <a:sym typeface="Cambria Math"/>
              </a:rPr>
              <a:t>, vol. 38, no. 3, pp. 1531–1551, June 2022</a:t>
            </a:r>
            <a:r>
              <a:rPr lang="en-GB" sz="1100" dirty="0">
                <a:solidFill>
                  <a:schemeClr val="tx1"/>
                </a:solidFill>
              </a:rPr>
              <a:t> </a:t>
            </a:r>
            <a:endParaRPr sz="1100" dirty="0">
              <a:solidFill>
                <a:schemeClr val="tx1"/>
              </a:solidFill>
              <a:latin typeface="Cambria Math"/>
              <a:ea typeface="Cambria Math"/>
              <a:cs typeface="Cambria Math"/>
              <a:sym typeface="Cambria Math"/>
            </a:endParaRPr>
          </a:p>
          <a:p>
            <a:pPr marL="0" lvl="0" indent="0" algn="l" rtl="0">
              <a:lnSpc>
                <a:spcPct val="100000"/>
              </a:lnSpc>
              <a:spcBef>
                <a:spcPts val="1200"/>
              </a:spcBef>
              <a:spcAft>
                <a:spcPts val="1200"/>
              </a:spcAft>
              <a:buSzPts val="1800"/>
              <a:buNone/>
            </a:pPr>
            <a:r>
              <a:rPr lang="en-GB" sz="1100" dirty="0">
                <a:solidFill>
                  <a:schemeClr val="tx1"/>
                </a:solidFill>
                <a:latin typeface="Cambria Math"/>
                <a:ea typeface="Cambria Math"/>
                <a:cs typeface="Cambria Math"/>
                <a:sym typeface="Cambria Math"/>
              </a:rPr>
              <a:t>[11] T. Patiño Padial, S. Chen, A. C. </a:t>
            </a:r>
            <a:r>
              <a:rPr lang="en-GB" sz="1100" dirty="0" err="1">
                <a:solidFill>
                  <a:schemeClr val="tx1"/>
                </a:solidFill>
                <a:latin typeface="Cambria Math"/>
                <a:ea typeface="Cambria Math"/>
                <a:cs typeface="Cambria Math"/>
                <a:sym typeface="Cambria Math"/>
              </a:rPr>
              <a:t>Hortelão</a:t>
            </a:r>
            <a:r>
              <a:rPr lang="en-GB" sz="1100" dirty="0">
                <a:solidFill>
                  <a:schemeClr val="tx1"/>
                </a:solidFill>
                <a:latin typeface="Cambria Math"/>
                <a:ea typeface="Cambria Math"/>
                <a:cs typeface="Cambria Math"/>
                <a:sym typeface="Cambria Math"/>
              </a:rPr>
              <a:t>, A. Sen, and S. Sánchez, “Swarming intelligence in self-propelled micromotors and nanomotors,” </a:t>
            </a:r>
            <a:r>
              <a:rPr lang="en-GB" sz="1100" i="1" dirty="0">
                <a:solidFill>
                  <a:schemeClr val="tx1"/>
                </a:solidFill>
                <a:latin typeface="Cambria Math"/>
                <a:ea typeface="Cambria Math"/>
                <a:cs typeface="Cambria Math"/>
                <a:sym typeface="Cambria Math"/>
              </a:rPr>
              <a:t>Nature Reviews Materials</a:t>
            </a:r>
            <a:r>
              <a:rPr lang="en-GB" sz="1100" dirty="0">
                <a:solidFill>
                  <a:schemeClr val="tx1"/>
                </a:solidFill>
                <a:latin typeface="Cambria Math"/>
                <a:ea typeface="Cambria Math"/>
                <a:cs typeface="Cambria Math"/>
                <a:sym typeface="Cambria Math"/>
              </a:rPr>
              <a:t>, vol. 10, no. 12, pp. 947–963, June 2025</a:t>
            </a:r>
            <a:endParaRPr sz="1100" dirty="0">
              <a:solidFill>
                <a:schemeClr val="tx1"/>
              </a:solidFill>
              <a:latin typeface="Cambria Math"/>
              <a:ea typeface="Cambria Math"/>
              <a:cs typeface="Cambria Math"/>
              <a:sym typeface="Cambria Math"/>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81">
                                            <p:txEl>
                                              <p:pRg st="0" end="0"/>
                                            </p:txEl>
                                          </p:spTgt>
                                        </p:tgtEl>
                                        <p:attrNameLst>
                                          <p:attrName>style.visibility</p:attrName>
                                        </p:attrNameLst>
                                      </p:cBhvr>
                                      <p:to>
                                        <p:strVal val="visible"/>
                                      </p:to>
                                    </p:set>
                                    <p:animEffect transition="in" filter="fade">
                                      <p:cBhvr>
                                        <p:cTn id="11" dur="1000"/>
                                        <p:tgtEl>
                                          <p:spTgt spid="181">
                                            <p:txEl>
                                              <p:pRg st="0" end="0"/>
                                            </p:txEl>
                                          </p:spTgt>
                                        </p:tgtEl>
                                      </p:cBhvr>
                                    </p:animEffect>
                                    <p:anim calcmode="lin" valueType="num">
                                      <p:cBhvr>
                                        <p:cTn id="12" dur="1000" fill="hold"/>
                                        <p:tgtEl>
                                          <p:spTgt spid="181">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181">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181">
                                            <p:txEl>
                                              <p:pRg st="1" end="1"/>
                                            </p:txEl>
                                          </p:spTgt>
                                        </p:tgtEl>
                                        <p:attrNameLst>
                                          <p:attrName>style.visibility</p:attrName>
                                        </p:attrNameLst>
                                      </p:cBhvr>
                                      <p:to>
                                        <p:strVal val="visible"/>
                                      </p:to>
                                    </p:set>
                                    <p:animEffect transition="in" filter="fade">
                                      <p:cBhvr>
                                        <p:cTn id="16" dur="1000"/>
                                        <p:tgtEl>
                                          <p:spTgt spid="181">
                                            <p:txEl>
                                              <p:pRg st="1" end="1"/>
                                            </p:txEl>
                                          </p:spTgt>
                                        </p:tgtEl>
                                      </p:cBhvr>
                                    </p:animEffect>
                                    <p:anim calcmode="lin" valueType="num">
                                      <p:cBhvr>
                                        <p:cTn id="17" dur="1000" fill="hold"/>
                                        <p:tgtEl>
                                          <p:spTgt spid="181">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181">
                                            <p:txEl>
                                              <p:pRg st="1" end="1"/>
                                            </p:txEl>
                                          </p:spTgt>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181">
                                            <p:txEl>
                                              <p:pRg st="2" end="2"/>
                                            </p:txEl>
                                          </p:spTgt>
                                        </p:tgtEl>
                                        <p:attrNameLst>
                                          <p:attrName>style.visibility</p:attrName>
                                        </p:attrNameLst>
                                      </p:cBhvr>
                                      <p:to>
                                        <p:strVal val="visible"/>
                                      </p:to>
                                    </p:set>
                                    <p:animEffect transition="in" filter="fade">
                                      <p:cBhvr>
                                        <p:cTn id="21" dur="1000"/>
                                        <p:tgtEl>
                                          <p:spTgt spid="181">
                                            <p:txEl>
                                              <p:pRg st="2" end="2"/>
                                            </p:txEl>
                                          </p:spTgt>
                                        </p:tgtEl>
                                      </p:cBhvr>
                                    </p:animEffect>
                                    <p:anim calcmode="lin" valueType="num">
                                      <p:cBhvr>
                                        <p:cTn id="22" dur="1000" fill="hold"/>
                                        <p:tgtEl>
                                          <p:spTgt spid="18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1">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81">
                                            <p:txEl>
                                              <p:pRg st="3" end="3"/>
                                            </p:txEl>
                                          </p:spTgt>
                                        </p:tgtEl>
                                        <p:attrNameLst>
                                          <p:attrName>style.visibility</p:attrName>
                                        </p:attrNameLst>
                                      </p:cBhvr>
                                      <p:to>
                                        <p:strVal val="visible"/>
                                      </p:to>
                                    </p:set>
                                    <p:animEffect transition="in" filter="fade">
                                      <p:cBhvr>
                                        <p:cTn id="26" dur="1000"/>
                                        <p:tgtEl>
                                          <p:spTgt spid="181">
                                            <p:txEl>
                                              <p:pRg st="3" end="3"/>
                                            </p:txEl>
                                          </p:spTgt>
                                        </p:tgtEl>
                                      </p:cBhvr>
                                    </p:animEffect>
                                    <p:anim calcmode="lin" valueType="num">
                                      <p:cBhvr>
                                        <p:cTn id="27" dur="1000" fill="hold"/>
                                        <p:tgtEl>
                                          <p:spTgt spid="181">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81">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81">
                                            <p:txEl>
                                              <p:pRg st="4" end="4"/>
                                            </p:txEl>
                                          </p:spTgt>
                                        </p:tgtEl>
                                        <p:attrNameLst>
                                          <p:attrName>style.visibility</p:attrName>
                                        </p:attrNameLst>
                                      </p:cBhvr>
                                      <p:to>
                                        <p:strVal val="visible"/>
                                      </p:to>
                                    </p:set>
                                    <p:animEffect transition="in" filter="fade">
                                      <p:cBhvr>
                                        <p:cTn id="31" dur="1000"/>
                                        <p:tgtEl>
                                          <p:spTgt spid="181">
                                            <p:txEl>
                                              <p:pRg st="4" end="4"/>
                                            </p:txEl>
                                          </p:spTgt>
                                        </p:tgtEl>
                                      </p:cBhvr>
                                    </p:animEffect>
                                    <p:anim calcmode="lin" valueType="num">
                                      <p:cBhvr>
                                        <p:cTn id="32" dur="1000" fill="hold"/>
                                        <p:tgtEl>
                                          <p:spTgt spid="181">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81">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81">
                                            <p:txEl>
                                              <p:pRg st="5" end="5"/>
                                            </p:txEl>
                                          </p:spTgt>
                                        </p:tgtEl>
                                        <p:attrNameLst>
                                          <p:attrName>style.visibility</p:attrName>
                                        </p:attrNameLst>
                                      </p:cBhvr>
                                      <p:to>
                                        <p:strVal val="visible"/>
                                      </p:to>
                                    </p:set>
                                    <p:animEffect transition="in" filter="fade">
                                      <p:cBhvr>
                                        <p:cTn id="36" dur="1000"/>
                                        <p:tgtEl>
                                          <p:spTgt spid="181">
                                            <p:txEl>
                                              <p:pRg st="5" end="5"/>
                                            </p:txEl>
                                          </p:spTgt>
                                        </p:tgtEl>
                                      </p:cBhvr>
                                    </p:animEffect>
                                    <p:anim calcmode="lin" valueType="num">
                                      <p:cBhvr>
                                        <p:cTn id="37" dur="1000" fill="hold"/>
                                        <p:tgtEl>
                                          <p:spTgt spid="181">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81">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81">
                                            <p:txEl>
                                              <p:pRg st="6" end="6"/>
                                            </p:txEl>
                                          </p:spTgt>
                                        </p:tgtEl>
                                        <p:attrNameLst>
                                          <p:attrName>style.visibility</p:attrName>
                                        </p:attrNameLst>
                                      </p:cBhvr>
                                      <p:to>
                                        <p:strVal val="visible"/>
                                      </p:to>
                                    </p:set>
                                    <p:animEffect transition="in" filter="fade">
                                      <p:cBhvr>
                                        <p:cTn id="41" dur="1000"/>
                                        <p:tgtEl>
                                          <p:spTgt spid="181">
                                            <p:txEl>
                                              <p:pRg st="6" end="6"/>
                                            </p:txEl>
                                          </p:spTgt>
                                        </p:tgtEl>
                                      </p:cBhvr>
                                    </p:animEffect>
                                    <p:anim calcmode="lin" valueType="num">
                                      <p:cBhvr>
                                        <p:cTn id="42" dur="1000" fill="hold"/>
                                        <p:tgtEl>
                                          <p:spTgt spid="181">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181">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81">
                                            <p:txEl>
                                              <p:pRg st="7" end="7"/>
                                            </p:txEl>
                                          </p:spTgt>
                                        </p:tgtEl>
                                        <p:attrNameLst>
                                          <p:attrName>style.visibility</p:attrName>
                                        </p:attrNameLst>
                                      </p:cBhvr>
                                      <p:to>
                                        <p:strVal val="visible"/>
                                      </p:to>
                                    </p:set>
                                    <p:animEffect transition="in" filter="fade">
                                      <p:cBhvr>
                                        <p:cTn id="46" dur="1000"/>
                                        <p:tgtEl>
                                          <p:spTgt spid="181">
                                            <p:txEl>
                                              <p:pRg st="7" end="7"/>
                                            </p:txEl>
                                          </p:spTgt>
                                        </p:tgtEl>
                                      </p:cBhvr>
                                    </p:animEffect>
                                    <p:anim calcmode="lin" valueType="num">
                                      <p:cBhvr>
                                        <p:cTn id="47" dur="1000" fill="hold"/>
                                        <p:tgtEl>
                                          <p:spTgt spid="181">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181">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81">
                                            <p:txEl>
                                              <p:pRg st="8" end="8"/>
                                            </p:txEl>
                                          </p:spTgt>
                                        </p:tgtEl>
                                        <p:attrNameLst>
                                          <p:attrName>style.visibility</p:attrName>
                                        </p:attrNameLst>
                                      </p:cBhvr>
                                      <p:to>
                                        <p:strVal val="visible"/>
                                      </p:to>
                                    </p:set>
                                    <p:animEffect transition="in" filter="fade">
                                      <p:cBhvr>
                                        <p:cTn id="51" dur="1000"/>
                                        <p:tgtEl>
                                          <p:spTgt spid="181">
                                            <p:txEl>
                                              <p:pRg st="8" end="8"/>
                                            </p:txEl>
                                          </p:spTgt>
                                        </p:tgtEl>
                                      </p:cBhvr>
                                    </p:animEffect>
                                    <p:anim calcmode="lin" valueType="num">
                                      <p:cBhvr>
                                        <p:cTn id="52" dur="1000" fill="hold"/>
                                        <p:tgtEl>
                                          <p:spTgt spid="181">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181">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81">
                                            <p:txEl>
                                              <p:pRg st="9" end="9"/>
                                            </p:txEl>
                                          </p:spTgt>
                                        </p:tgtEl>
                                        <p:attrNameLst>
                                          <p:attrName>style.visibility</p:attrName>
                                        </p:attrNameLst>
                                      </p:cBhvr>
                                      <p:to>
                                        <p:strVal val="visible"/>
                                      </p:to>
                                    </p:set>
                                    <p:animEffect transition="in" filter="fade">
                                      <p:cBhvr>
                                        <p:cTn id="56" dur="1000"/>
                                        <p:tgtEl>
                                          <p:spTgt spid="181">
                                            <p:txEl>
                                              <p:pRg st="9" end="9"/>
                                            </p:txEl>
                                          </p:spTgt>
                                        </p:tgtEl>
                                      </p:cBhvr>
                                    </p:animEffect>
                                    <p:anim calcmode="lin" valueType="num">
                                      <p:cBhvr>
                                        <p:cTn id="57" dur="1000" fill="hold"/>
                                        <p:tgtEl>
                                          <p:spTgt spid="181">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81">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81">
                                            <p:txEl>
                                              <p:pRg st="10" end="10"/>
                                            </p:txEl>
                                          </p:spTgt>
                                        </p:tgtEl>
                                        <p:attrNameLst>
                                          <p:attrName>style.visibility</p:attrName>
                                        </p:attrNameLst>
                                      </p:cBhvr>
                                      <p:to>
                                        <p:strVal val="visible"/>
                                      </p:to>
                                    </p:set>
                                    <p:animEffect transition="in" filter="fade">
                                      <p:cBhvr>
                                        <p:cTn id="61" dur="1000"/>
                                        <p:tgtEl>
                                          <p:spTgt spid="181">
                                            <p:txEl>
                                              <p:pRg st="10" end="10"/>
                                            </p:txEl>
                                          </p:spTgt>
                                        </p:tgtEl>
                                      </p:cBhvr>
                                    </p:animEffect>
                                    <p:anim calcmode="lin" valueType="num">
                                      <p:cBhvr>
                                        <p:cTn id="62" dur="1000" fill="hold"/>
                                        <p:tgtEl>
                                          <p:spTgt spid="181">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181">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4.1|6.9|2.6|4.6"/>
</p:tagLst>
</file>

<file path=ppt/tags/tag2.xml><?xml version="1.0" encoding="utf-8"?>
<p:tagLst xmlns:a="http://schemas.openxmlformats.org/drawingml/2006/main" xmlns:r="http://schemas.openxmlformats.org/officeDocument/2006/relationships" xmlns:p="http://schemas.openxmlformats.org/presentationml/2006/main">
  <p:tag name="TIMING" val="|1.7|11.3|3.5|2.7|10.8|14.3|2.5"/>
</p:tagLst>
</file>

<file path=ppt/tags/tag3.xml><?xml version="1.0" encoding="utf-8"?>
<p:tagLst xmlns:a="http://schemas.openxmlformats.org/drawingml/2006/main" xmlns:r="http://schemas.openxmlformats.org/officeDocument/2006/relationships" xmlns:p="http://schemas.openxmlformats.org/presentationml/2006/main">
  <p:tag name="TIMING" val="|1.7|3.8"/>
</p:tagLst>
</file>

<file path=ppt/tags/tag4.xml><?xml version="1.0" encoding="utf-8"?>
<p:tagLst xmlns:a="http://schemas.openxmlformats.org/drawingml/2006/main" xmlns:r="http://schemas.openxmlformats.org/officeDocument/2006/relationships" xmlns:p="http://schemas.openxmlformats.org/presentationml/2006/main">
  <p:tag name="TIMING" val="|0.8|0.1|1|14.7|1.1|0.4|1.8|0.6"/>
</p:tagLst>
</file>

<file path=ppt/tags/tag5.xml><?xml version="1.0" encoding="utf-8"?>
<p:tagLst xmlns:a="http://schemas.openxmlformats.org/drawingml/2006/main" xmlns:r="http://schemas.openxmlformats.org/officeDocument/2006/relationships" xmlns:p="http://schemas.openxmlformats.org/presentationml/2006/main">
  <p:tag name="TIMING" val="|0.4|0.8|17.3|30.5|28.5|2.8|1.2|22|0.8|21.2"/>
</p:tagLst>
</file>

<file path=ppt/tags/tag6.xml><?xml version="1.0" encoding="utf-8"?>
<p:tagLst xmlns:a="http://schemas.openxmlformats.org/drawingml/2006/main" xmlns:r="http://schemas.openxmlformats.org/officeDocument/2006/relationships" xmlns:p="http://schemas.openxmlformats.org/presentationml/2006/main">
  <p:tag name="TIMING" val="|0.6|1.2|0.5|0.6|0.8|0.9"/>
</p:tagLst>
</file>

<file path=ppt/tags/tag7.xml><?xml version="1.0" encoding="utf-8"?>
<p:tagLst xmlns:a="http://schemas.openxmlformats.org/drawingml/2006/main" xmlns:r="http://schemas.openxmlformats.org/officeDocument/2006/relationships" xmlns:p="http://schemas.openxmlformats.org/presentationml/2006/main">
  <p:tag name="TIMING" val="|0.5|0.5|0.6|0.6|19.4|1.4|6.7|3.8"/>
</p:tagLst>
</file>

<file path=ppt/tags/tag8.xml><?xml version="1.0" encoding="utf-8"?>
<p:tagLst xmlns:a="http://schemas.openxmlformats.org/drawingml/2006/main" xmlns:r="http://schemas.openxmlformats.org/officeDocument/2006/relationships" xmlns:p="http://schemas.openxmlformats.org/presentationml/2006/main">
  <p:tag name="TIMING" val="|0.4|0.3|0.8|3|0.9"/>
</p:tagLst>
</file>

<file path=ppt/tags/tag9.xml><?xml version="1.0" encoding="utf-8"?>
<p:tagLst xmlns:a="http://schemas.openxmlformats.org/drawingml/2006/main" xmlns:r="http://schemas.openxmlformats.org/officeDocument/2006/relationships" xmlns:p="http://schemas.openxmlformats.org/presentationml/2006/main">
  <p:tag name="TIMING" val="|0.6|0.6"/>
</p:tagLst>
</file>

<file path=ppt/tags/tag10.xml><?xml version="1.0" encoding="utf-8"?>
<p:tagLst xmlns:a="http://schemas.openxmlformats.org/drawingml/2006/main" xmlns:r="http://schemas.openxmlformats.org/officeDocument/2006/relationships" xmlns:p="http://schemas.openxmlformats.org/presentationml/2006/main">
  <p:tag name="TIMING" val="|0.7|1.1|0.5|0.2|0.7|0.5"/>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1160</TotalTime>
  <Words>1845</Words>
  <Application>Microsoft Office PowerPoint</Application>
  <PresentationFormat>On-screen Show (16:9)</PresentationFormat>
  <Paragraphs>185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Courier New</vt:lpstr>
      <vt:lpstr>Cambria Math</vt:lpstr>
      <vt:lpstr>Wingdings</vt:lpstr>
      <vt:lpstr>Simple Light</vt:lpstr>
      <vt:lpstr>Swarm‑Based Meta‑Heuristics for Multi‑Objective Route Optimisation in Micromobility Systems</vt:lpstr>
      <vt:lpstr>Introduction and Motivation </vt:lpstr>
      <vt:lpstr>PowerPoint Presentation</vt:lpstr>
      <vt:lpstr>Design Parameters &amp; Research Questions </vt:lpstr>
      <vt:lpstr>Background and related works</vt:lpstr>
      <vt:lpstr>PowerPoint Presentation</vt:lpstr>
      <vt:lpstr>Methodology</vt:lpstr>
      <vt:lpstr>PowerPoint Presentation</vt:lpstr>
      <vt:lpstr>PowerPoint Presentation</vt:lpstr>
      <vt:lpstr>Why the techniques were used</vt:lpstr>
      <vt:lpstr>Results</vt:lpstr>
      <vt:lpstr>Results Chart</vt:lpstr>
      <vt:lpstr>Results discussion </vt:lpstr>
      <vt:lpstr>Conclusion and Future Work</vt:lpstr>
      <vt:lpstr>Challenges &amp; Responsibilities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 Zikang Crane</dc:creator>
  <cp:lastModifiedBy>Ben Zikang Crane</cp:lastModifiedBy>
  <cp:revision>5</cp:revision>
  <dcterms:modified xsi:type="dcterms:W3CDTF">2026-08-03T20:39:09Z</dcterms:modified>
</cp:coreProperties>
</file>